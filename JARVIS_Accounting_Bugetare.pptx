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Georgia"/>
              </a:defRPr>
            </a:pPr>
            <a:r>
              <a:t>JARVIS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A896"/>
                </a:solidFill>
                <a:latin typeface="Georgia"/>
              </a:defRPr>
            </a:pPr>
            <a:r>
              <a:t>Accounting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Bugetare Process — Architecture &amp; Logic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80360"/>
            <a:ext cx="32004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Internal Technical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4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Module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High-Level Architecture of the Accounting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067" y="2011680"/>
            <a:ext cx="150876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e-Factura</a:t>
            </a:r>
            <a:br/>
            <a:r>
              <a:t>ANAF Sync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511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35427" y="2011680"/>
            <a:ext cx="1508760" cy="8229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Invoice</a:t>
            </a:r>
            <a:br/>
            <a:r>
              <a:t>Ingestion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6247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72787" y="2011680"/>
            <a:ext cx="150876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  <a:br/>
            <a:r>
              <a:t>Allocation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983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0147" y="2011680"/>
            <a:ext cx="150876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Bank</a:t>
            </a:r>
            <a:br/>
            <a:r>
              <a:t>Statements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3719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47507" y="2011680"/>
            <a:ext cx="150876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Approval</a:t>
            </a:r>
            <a:br/>
            <a:r>
              <a:t>Flows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7455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84867" y="2011680"/>
            <a:ext cx="1508760" cy="82296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Bugetare</a:t>
            </a:r>
            <a:br/>
            <a:r>
              <a:t>&amp;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Supporting Infrastructure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44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" y="365760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Supplier Mappings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Auto-categorize vendors by CIF/name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patterns to departments &amp; 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836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8367" y="3657600"/>
            <a:ext cx="54864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124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Invoice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24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Regex-based parsing rules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24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recurring supplier invoices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657600"/>
            <a:ext cx="54864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Vendor Mappings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Bank transaction → supplier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name resolution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620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76207" y="365760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908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Tags &amp; Auto-Rules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908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Flexible entity tagging with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condition-based auto-assignment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29200"/>
            <a:ext cx="1106424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PostgreSQL + pgvector  |  Multi-company multi-brand  |  Role-based permissions (deny / own / department / all)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Core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Invoice &amp; Allocation Schema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377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 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invoice_date 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invoice_value  NUMERIC(15,2)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currency  TEXT  (RON)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value_ron  NUMERIC(15,2)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value_eur  NUMERIC(15,2)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5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exchange_rate  NUMERIC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vat_rate  NUMERIC(5,2)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307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net_value  NUMERIC(15,2)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33087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payment_status 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371600"/>
            <a:ext cx="2560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 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brand 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subdepartment 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allocation_percent  NUM(7,4)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allocation_value  NUM(15,2)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responsible 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2958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responsible_user_id  FK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3075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reinvoice_to 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93192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locked  BOOLEAN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133087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comment 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37160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reinvoice_destinations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79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allocation_id  FK → alloc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  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79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brand  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79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9" y="2724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percentage  NUM(7,4)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29260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  NUM(15,2)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3657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657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79" y="367588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invoice_templates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4005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4206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 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4407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 / supplier_vat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79" y="4608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invoice_number_regex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79" y="4809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invoice_date_regex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79" y="5010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invoice_value_regex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1371600"/>
            <a:ext cx="2377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2688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19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vendor_mappings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19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19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pattern  TEXT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19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supplier_name  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19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supplier_vat  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19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template_id  FK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80" y="338328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0" y="338328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19" y="3401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bank_stmt_transactions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19" y="37307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19" y="3931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statement_id  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19" y="41330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vendor_name  TEXT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19" y="433425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matched_supplier  TEXT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19" y="45354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amount  NUM(15,2)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19" y="4736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19" y="4937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(pending/matched)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19" y="5138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match_confidence  NUM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834640" y="2560320"/>
            <a:ext cx="54864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943600" y="2103120"/>
            <a:ext cx="54864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869680" y="182880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e-Factura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ANAF OAuth2 Sync Pipeline &amp; Data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  VARCHAR(20)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display_name  VARCHAR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environment  (test/prod)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last_sync_at 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(active/...)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cert_fingerprint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efactura_oauth_tokens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7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  VARCHAR(20)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988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access_token 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000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refresh_token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expires_at  TIMESTAMP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1371600"/>
            <a:ext cx="2286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371600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efactura_sync_runs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run_id  UUID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company_cif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direction  (sent/received)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messages_checked  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invoices_created  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invoices_updated  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1272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errors_count  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393192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393192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39502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efactura_sync_errors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79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48055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run_id  FK → sync_runs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6817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error_type  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8828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error_message  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is_retryable  BOOL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137160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efactura_invoices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cif_owner  VARCHAR(20)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direction  (sent/received)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partner_cif / partner_name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 / series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issue_date / due_date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total_amount  NUM(15,2)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total_vat / total_without_vat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currency  (RON)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352958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jarvis_invoice_id  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73075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type_override / dept_override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43600" y="4572000"/>
            <a:ext cx="2560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efactura_supplier_mappings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49194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partner_name / partner_cif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1206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supplier_name / vat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3218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/ brand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55229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type_id  FK → supplier_types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20" y="1371600"/>
            <a:ext cx="13716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ANAF</a:t>
            </a:r>
            <a:br/>
            <a:r>
              <a:t>API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20" y="2377440"/>
            <a:ext cx="1371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OAuth2</a:t>
            </a:r>
            <a:br/>
            <a:r>
              <a:t>Flow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3383280"/>
            <a:ext cx="137160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Sync</a:t>
            </a:r>
            <a:br/>
            <a:r>
              <a:t>Engine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4389120"/>
            <a:ext cx="13716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Supplier</a:t>
            </a:r>
            <a:br/>
            <a:r>
              <a:t>Mapping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61120" y="5394960"/>
            <a:ext cx="13716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Jarvis</a:t>
            </a:r>
            <a:br/>
            <a:r>
              <a:t>Invoice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646920" y="201168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646920" y="3017520"/>
            <a:ext cx="0" cy="365759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646920" y="402336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46920" y="502920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607040" y="137160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1. Connect company via OAuth2</a:t>
            </a:r>
            <a:br/>
            <a:br/>
            <a:r>
              <a:t>2. Sync runs fetch XML messages</a:t>
            </a:r>
            <a:br/>
            <a:br/>
            <a:r>
              <a:t>3. Parse invoices from XML</a:t>
            </a:r>
            <a:br/>
            <a:br/>
            <a:r>
              <a:t>4. Map suppliers to internal names</a:t>
            </a:r>
            <a:br/>
            <a:br/>
            <a:r>
              <a:t>5. Create/link to Jarvis invoice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Invoice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From Upload to Stored Invoice — The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0927" y="1645920"/>
            <a:ext cx="1554480" cy="731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  <a:br/>
            <a:r>
              <a:t>PDF/Image</a:t>
            </a:r>
          </a:p>
        </p:txBody>
      </p:sp>
      <p:sp>
        <p:nvSpPr>
          <p:cNvPr id="6" name="Oval 5"/>
          <p:cNvSpPr/>
          <p:nvPr/>
        </p:nvSpPr>
        <p:spPr>
          <a:xfrm>
            <a:off x="1661007" y="137160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User uploads</a:t>
            </a:r>
            <a:br/>
            <a:r>
              <a:t>via /api/submit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3695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9999" y="1645920"/>
            <a:ext cx="155448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Parse</a:t>
            </a:r>
            <a:br/>
            <a:r>
              <a:t>(OCR/LLM)</a:t>
            </a:r>
          </a:p>
        </p:txBody>
      </p:sp>
      <p:sp>
        <p:nvSpPr>
          <p:cNvPr id="10" name="Oval 9"/>
          <p:cNvSpPr/>
          <p:nvPr/>
        </p:nvSpPr>
        <p:spPr>
          <a:xfrm>
            <a:off x="3380079" y="137160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9999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Extract fields:</a:t>
            </a:r>
            <a:br/>
            <a:r>
              <a:t>supplier, amount,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12767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59071" y="1645920"/>
            <a:ext cx="15544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Template</a:t>
            </a:r>
            <a:br/>
            <a:r>
              <a:t>Match</a:t>
            </a:r>
          </a:p>
        </p:txBody>
      </p:sp>
      <p:sp>
        <p:nvSpPr>
          <p:cNvPr id="14" name="Oval 13"/>
          <p:cNvSpPr/>
          <p:nvPr/>
        </p:nvSpPr>
        <p:spPr>
          <a:xfrm>
            <a:off x="5099151" y="13716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9071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Match regex patterns</a:t>
            </a:r>
            <a:br/>
            <a:r>
              <a:t>or create new template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1839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8143" y="1645920"/>
            <a:ext cx="15544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VAT</a:t>
            </a:r>
            <a:br/>
            <a:r>
              <a:t>Calculation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818223" y="13716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Apply vat_rate,</a:t>
            </a:r>
            <a:br/>
            <a:r>
              <a:t>compute net_value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50911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97215" y="1645920"/>
            <a:ext cx="155448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Department</a:t>
            </a:r>
            <a:br/>
            <a:r>
              <a:t>Suggestion</a:t>
            </a:r>
          </a:p>
        </p:txBody>
      </p:sp>
      <p:sp>
        <p:nvSpPr>
          <p:cNvPr id="22" name="Oval 21"/>
          <p:cNvSpPr/>
          <p:nvPr/>
        </p:nvSpPr>
        <p:spPr>
          <a:xfrm>
            <a:off x="8537295" y="13716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7215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AI suggests dept</a:t>
            </a:r>
            <a:br/>
            <a:r>
              <a:t>based on supplier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9983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6287" y="1645920"/>
            <a:ext cx="1554480" cy="731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Store to</a:t>
            </a:r>
            <a:br/>
            <a:r>
              <a:t>Database</a:t>
            </a:r>
          </a:p>
        </p:txBody>
      </p:sp>
      <p:sp>
        <p:nvSpPr>
          <p:cNvPr id="26" name="Oval 25"/>
          <p:cNvSpPr/>
          <p:nvPr/>
        </p:nvSpPr>
        <p:spPr>
          <a:xfrm>
            <a:off x="10256367" y="137160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6287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Insert into invoices</a:t>
            </a:r>
            <a:br/>
            <a:r>
              <a:t>table + drive_link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Key API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490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Submit new invoice with file + metadata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76732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76732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690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/api/parse-invoice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069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OCR/AI extraction from uploaded 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08736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08736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/api/suggest-department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AI-powered department suggestion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40740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40740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/api/db/invoices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091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List invoices with filters, pagination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472744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472744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can_view_invoices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PUT /api/db/invoices/&lt;id&gt;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Update invoice fields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5047488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PUT /api/db/invoices/&lt;id&gt;/allocations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Set cost allocations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536752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536752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Cost Allocation — Bugetare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How Invoices Are Split Across Companies, Brands &amp; Departments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828800" cy="10972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Invoice</a:t>
            </a:r>
            <a:br/>
            <a:r>
              <a:t>#12345</a:t>
            </a:r>
            <a:br/>
            <a:r>
              <a:t>€5,000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834640"/>
            <a:ext cx="640080" cy="0"/>
          </a:xfrm>
          <a:prstGeom prst="line">
            <a:avLst/>
          </a:prstGeom>
          <a:ln w="381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2103120"/>
            <a:ext cx="2011680" cy="1645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Allocation</a:t>
            </a:r>
            <a:br/>
            <a:r>
              <a:t>Engine</a:t>
            </a:r>
            <a:br/>
            <a:br/>
            <a:r>
              <a:t>Split by %</a:t>
            </a:r>
            <a:br/>
            <a:r>
              <a:t>per company</a:t>
            </a:r>
            <a:br/>
            <a:r>
              <a:t>&amp; department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5029200" y="1920240"/>
            <a:ext cx="274320" cy="91440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55448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554480"/>
            <a:ext cx="54864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Autoworld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50%  =  €2,500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834640"/>
            <a:ext cx="274320" cy="27432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27432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274320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Autoworld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30%  =  €1,500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2834640"/>
            <a:ext cx="274320" cy="1463040"/>
          </a:xfrm>
          <a:prstGeom prst="line">
            <a:avLst/>
          </a:prstGeom>
          <a:ln w="2540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0" y="3931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931920"/>
            <a:ext cx="54864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20%  =  €1,000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Reinvoice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783080"/>
            <a:ext cx="3017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11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When an allocation has reinvoice_to set:</a:t>
            </a:r>
            <a:br/>
            <a:br/>
            <a:r>
              <a:t>1. Original allocation stays on source</a:t>
            </a:r>
            <a:br/>
            <a:br/>
            <a:r>
              <a:t>2. reinvoice_destinations table stores</a:t>
            </a:r>
            <a:br/>
            <a:r>
              <a:t>   the target company/brand/dept</a:t>
            </a:r>
            <a:br/>
            <a:br/>
            <a:r>
              <a:t>3. Each destination gets a percentage</a:t>
            </a:r>
            <a:br/>
            <a:r>
              <a:t>   of the allocation value</a:t>
            </a:r>
            <a:br/>
            <a:br/>
            <a:r>
              <a:t>4. Enables inter-company cost transfer</a:t>
            </a:r>
            <a:br/>
            <a:r>
              <a:t>   within the holding 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46320"/>
            <a:ext cx="110642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Key Fields:  allocation_percent (7,4)  |  allocation_value (15,2)  |  responsible_user_id  |  locked (prevents edits)  |  comment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6400"/>
            <a:ext cx="11064240" cy="4572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  <a:latin typeface="Consolas"/>
              </a:defRPr>
            </a:pPr>
            <a:r>
              <a:t>allocation_value  =  invoice_value  ×  (allocation_percent / 100)     |     SUM(allocation_percent) per invoice MUST =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Bugetare — Bulk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Mass Invoice Processing, AI Matching &amp; Excel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Upload multiple invoices</a:t>
            </a:r>
            <a:br/>
            <a:r>
              <a:t>or select from database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011680"/>
            <a:ext cx="0" cy="36576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377440"/>
            <a:ext cx="146304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/api/bulk/process</a:t>
            </a:r>
            <a:br/>
            <a:r>
              <a:t>Parse &amp; validate all items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301752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383280"/>
            <a:ext cx="14630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/api/bulk/match-campaigns</a:t>
            </a:r>
            <a:br/>
            <a:r>
              <a:t>Link invoices to marketing campaigns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4023360"/>
            <a:ext cx="0" cy="36576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38912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/api/bulk/group-similar-items</a:t>
            </a:r>
            <a:br/>
            <a:r>
              <a:t>Cluster similar invoices together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5029200"/>
            <a:ext cx="0" cy="3657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53949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/api/bulk/export</a:t>
            </a:r>
            <a:br/>
            <a:r>
              <a:t>Generate Excel with allocations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Excel Export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100584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Supplier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920240"/>
            <a:ext cx="82296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Invoice 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920240"/>
            <a:ext cx="6400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Amount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1920240"/>
            <a:ext cx="82296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Company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920240"/>
            <a:ext cx="73152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920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1920240"/>
            <a:ext cx="6400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Brand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64240" y="1920240"/>
            <a:ext cx="36576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0996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94560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VGS Romania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194560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VGSR 3442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194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5,200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2194560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Next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2640" y="219456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9880" y="2194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2194560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099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468879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24688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7406640" y="2468879"/>
            <a:ext cx="8229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24688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2" name="Rectangle 51"/>
          <p:cNvSpPr/>
          <p:nvPr/>
        </p:nvSpPr>
        <p:spPr>
          <a:xfrm>
            <a:off x="8229600" y="2468879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2468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4" name="Rectangle 53"/>
          <p:cNvSpPr/>
          <p:nvPr/>
        </p:nvSpPr>
        <p:spPr>
          <a:xfrm>
            <a:off x="8869680" y="2468879"/>
            <a:ext cx="8229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400" y="24688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Plus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2468879"/>
            <a:ext cx="73152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246887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60" y="2468879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69880" y="2468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Audi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064240" y="2468879"/>
            <a:ext cx="3657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09960" y="24688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743200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Canopy SRL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2743200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5236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15562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3,100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69680" y="2743200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1540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92640" y="274320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836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2416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6988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064240" y="2743200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996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3017520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06640" y="3017520"/>
            <a:ext cx="8229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5236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5273308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3017520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75320" y="3017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12,450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0" y="3017520"/>
            <a:ext cx="8229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1540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Next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92640" y="3017520"/>
            <a:ext cx="73152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38360" y="3017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24160" y="3017520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69880" y="3017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064240" y="3017520"/>
            <a:ext cx="3657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10996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3291839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652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2" name="Rectangle 91"/>
          <p:cNvSpPr/>
          <p:nvPr/>
        </p:nvSpPr>
        <p:spPr>
          <a:xfrm>
            <a:off x="7406640" y="3291839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52360" y="32918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4" name="Rectangle 93"/>
          <p:cNvSpPr/>
          <p:nvPr/>
        </p:nvSpPr>
        <p:spPr>
          <a:xfrm>
            <a:off x="8229600" y="3291839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75320" y="32918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6" name="Rectangle 95"/>
          <p:cNvSpPr/>
          <p:nvPr/>
        </p:nvSpPr>
        <p:spPr>
          <a:xfrm>
            <a:off x="8869680" y="3291839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15400" y="32918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Int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92640" y="3291839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38360" y="32918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24160" y="3291839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69880" y="32918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VW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064240" y="3291839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10996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AI Campaign Matching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4297680"/>
            <a:ext cx="5029200" cy="16459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0" y="4389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The AI engine matches invoices to marketing campaigns:</a:t>
            </a:r>
            <a:br/>
            <a:br/>
            <a:r>
              <a:t>1. Analyzes supplier name, description, and amounts</a:t>
            </a:r>
            <a:br/>
            <a:r>
              <a:t>2. Cross-references with Marketing module projects</a:t>
            </a:r>
            <a:br/>
            <a:r>
              <a:t>3. Groups similar invoices (e.g., all Google Ads for Q1)</a:t>
            </a:r>
            <a:br/>
            <a:r>
              <a:t>4. Suggests budget line linkage for cost tracking</a:t>
            </a:r>
            <a:br/>
            <a:r>
              <a:t>5. Enables bulk allocation to correct departments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Bank Statement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Transaction Matching &amp; Invoice Linkage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filename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company_name / cui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account_number 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period_from / period_to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total_transactions 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new_transactions  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duplicate_transactions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uploaded_by  FK →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5603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07407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bank_stmt_transactions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3659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statement_id  FK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59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vendor_name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3892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amount  NUM(15,2)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009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transaction_date 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4126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42431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(pending/matched)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match_confidence  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Auto-Match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2011680"/>
            <a:ext cx="137160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  <a:br/>
            <a:r>
              <a:t>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Parse PDF/CSV</a:t>
            </a:r>
            <a:br/>
            <a:r>
              <a:t>extract rows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43400" y="2560320"/>
            <a:ext cx="0" cy="32004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0" y="2880360"/>
            <a:ext cx="1371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Vendor</a:t>
            </a:r>
            <a:br/>
            <a:r>
              <a:t>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vendor_mappings</a:t>
            </a:r>
            <a:br/>
            <a:r>
              <a:t>pattern match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43400" y="3429000"/>
            <a:ext cx="0" cy="32004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57600" y="3749039"/>
            <a:ext cx="1371600" cy="5486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Invoice</a:t>
            </a:r>
            <a:br/>
            <a:r>
              <a:t>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Amount + date</a:t>
            </a:r>
            <a:br/>
            <a:r>
              <a:t>fuzzy matching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3400" y="4297679"/>
            <a:ext cx="0" cy="320041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0" y="4617720"/>
            <a:ext cx="1371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Confidence</a:t>
            </a:r>
            <a:br/>
            <a:r>
              <a:t>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0.0 – 1.0 score</a:t>
            </a:r>
            <a:br/>
            <a:r>
              <a:t>per suggestion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43400" y="5166359"/>
            <a:ext cx="0" cy="320041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57600" y="5486400"/>
            <a:ext cx="1371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Accept /</a:t>
            </a:r>
            <a:br/>
            <a:r>
              <a:t>Reject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User reviews</a:t>
            </a:r>
            <a:br/>
            <a:r>
              <a:t>or auto-accept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182880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182880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Transaction Merge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Combine split payments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into single logical transaction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69748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269748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Vendor Auto-Map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Pattern-based vendor → supplier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resolution from vendor_mappings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356616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356616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AI Suggestions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GET /transactions/&lt;id&gt;/suggestions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returns ranked invoice matches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443484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46720" y="443484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Bulk Operations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bulk-ignore, bulk-status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5148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for efficient processing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530352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20" y="530352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CSV Export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GET /api/export/csv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016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for external reconciliation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Approval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Multi-Step Configurable Approval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/ slug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entity_type 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trigger_conditions  JSONB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auto_approve_below  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auto_reject_after_hours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allow_parallel_steps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flow_id  FK →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step_order  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08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approver_type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approver_user_id  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approver_role_name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137160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entity_type 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entity_id  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flow_id  FK →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current_step_id  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(pending/approved/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  rejected/escalated/...)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requested_by  FK →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365760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365760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67588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005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request_id  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206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step_id 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407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decided_by  FK →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608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decision  (approved/rejected/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  returned/delegated)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010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comment  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Approval Flow Example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2103120"/>
            <a:ext cx="13716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</a:t>
            </a:r>
            <a:br/>
            <a:r>
              <a:t>Submitted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926080"/>
            <a:ext cx="1371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Auto-Approve</a:t>
            </a:r>
            <a:br/>
            <a:r>
              <a:t>Check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3931920"/>
            <a:ext cx="137160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Manager</a:t>
            </a:r>
            <a:br/>
            <a:r>
              <a:t>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3931920"/>
            <a:ext cx="13716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  <a:br/>
            <a:r>
              <a:t>Approval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937760"/>
            <a:ext cx="13716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931920"/>
            <a:ext cx="13716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Rejected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543800" y="2743200"/>
            <a:ext cx="0" cy="18288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629400" y="3566160"/>
            <a:ext cx="2286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72400" y="3566160"/>
            <a:ext cx="6858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29400" y="4572000"/>
            <a:ext cx="50292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772400" y="4572000"/>
            <a:ext cx="6858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144000" y="3931920"/>
            <a:ext cx="457200" cy="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601200" y="13716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Features:</a:t>
            </a:r>
            <a:br/>
            <a:br/>
            <a:r>
              <a:t>• Multi-step sequential</a:t>
            </a:r>
            <a:br/>
            <a:r>
              <a:t>  or parallel approval</a:t>
            </a:r>
            <a:br/>
            <a:br/>
            <a:r>
              <a:t>• Auto-approve below</a:t>
            </a:r>
            <a:br/>
            <a:r>
              <a:t>  threshold amount</a:t>
            </a:r>
            <a:br/>
            <a:br/>
            <a:r>
              <a:t>• Auto-reject after</a:t>
            </a:r>
            <a:br/>
            <a:r>
              <a:t>  timeout (hours)</a:t>
            </a:r>
            <a:br/>
            <a:br/>
            <a:r>
              <a:t>• Delegation system</a:t>
            </a:r>
            <a:br/>
            <a:r>
              <a:t>  (vacation coverage)</a:t>
            </a:r>
            <a:br/>
            <a:br/>
            <a:r>
              <a:t>• Full audit trail</a:t>
            </a:r>
            <a:br/>
            <a:r>
              <a:t>  per decision</a:t>
            </a:r>
            <a:br/>
            <a:br/>
            <a:r>
              <a:t>• Escalation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Bugetare — End-to-End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Complete Invoice-to-Budget Flow Across All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55448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Manual</a:t>
            </a:r>
            <a:br/>
            <a:r>
              <a:t>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155448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e-Factura</a:t>
            </a:r>
            <a:br/>
            <a:r>
              <a:t>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15544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Bank</a:t>
            </a:r>
            <a:br/>
            <a:r>
              <a:t>Statement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011680"/>
            <a:ext cx="228600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2011680"/>
            <a:ext cx="27432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520440" y="2011680"/>
            <a:ext cx="173736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80" y="2560320"/>
            <a:ext cx="210312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Invoice Store</a:t>
            </a:r>
            <a:br/>
            <a:r>
              <a:t>(invoices table)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0440" y="329184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3657600"/>
            <a:ext cx="28346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Allocation Engine</a:t>
            </a:r>
            <a:br/>
            <a:r>
              <a:t>(allocations table)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029200"/>
            <a:ext cx="201168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Company P&amp;L</a:t>
            </a:r>
            <a:br/>
            <a:r>
              <a:t>by Department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280160" y="4389120"/>
            <a:ext cx="2240280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5029200"/>
            <a:ext cx="201168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  <a:br/>
            <a:r>
              <a:t>Budget Link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0440" y="4389120"/>
            <a:ext cx="228599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5029200"/>
            <a:ext cx="201168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Reinvoice</a:t>
            </a:r>
            <a:br/>
            <a:r>
              <a:t>Inter-company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4389120"/>
            <a:ext cx="2697480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Process Logic Detail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828800"/>
            <a:ext cx="54864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1. Invoice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Parse uploaded file or sync from ANAF.</a:t>
            </a:r>
            <a:br/>
            <a:r>
              <a:t>Extract: supplier, number, date, amount, VAT.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487168"/>
            <a:ext cx="54864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487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2. Supplier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15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 via efactura_supplier_mappings or</a:t>
            </a:r>
            <a:br/>
            <a:r>
              <a:t>vendor_mappings. Assign type &amp; department.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145536"/>
            <a:ext cx="54864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14553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3. Cost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74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Split invoice across companies/brands/depts.</a:t>
            </a:r>
            <a:br/>
            <a:r>
              <a:t>Each allocation row = % of total value.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803904"/>
            <a:ext cx="54864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8039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4. Reinvoice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32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If reinvoice_to is set, create entries in</a:t>
            </a:r>
            <a:br/>
            <a:r>
              <a:t>reinvoice_destinations for inter-co transfers.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446227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462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5.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90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Submit allocations to approval_flows.</a:t>
            </a:r>
            <a:br/>
            <a:r>
              <a:t>Auto-approve if below threshold.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5120640"/>
            <a:ext cx="54864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6. Budget Linkage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Link to marketing budget_lines.</a:t>
            </a:r>
            <a:br/>
            <a:r>
              <a:t>Track actual vs. planned spend.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779008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5779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7. Export /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007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Bulk export to Excel with full</a:t>
            </a:r>
            <a:br/>
            <a:r>
              <a:t>allocation breakdown per company.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Marketing Budget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Linking Invoices to Projects, Budget Lines &amp;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8288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  <a:br/>
            <a:r>
              <a:t>Project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64592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Budget</a:t>
            </a:r>
            <a:br/>
            <a:r>
              <a:t>Lines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645920"/>
            <a:ext cx="18288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Linked</a:t>
            </a:r>
            <a:br/>
            <a:r>
              <a:t>Invoices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645920"/>
            <a:ext cx="18288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Actual vs.</a:t>
            </a:r>
            <a:br/>
            <a: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Budget API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/api/projects/&lt;id&gt;/budget-lines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Retrieve all budget lines for a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/api/projects/&lt;id&gt;/budget-lines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Create a new budget line (planned spend)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/api/budget-lines/&lt;id&gt;/link-invoice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Link an existing invoice to this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/api/budget-lines/&lt;id&gt;/transactions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View all transactions for this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/api/reports/budget-vs-actual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Budget vs. actual spend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/api/reports/channel-performance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Performance by marketing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KPI &amp; OKR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Each project can define KPIs with snapshot history and OKRs with key results.</a:t>
            </a:r>
            <a:br/>
            <a:r>
              <a:t>KPI values can be auto-synced from actual spend data via POST /api/projects/&lt;id&gt;/sync-kpis.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029200"/>
            <a:ext cx="4846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Budget vs. Actual (Example)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37667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486400"/>
            <a:ext cx="219456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5582412"/>
            <a:ext cx="2048255" cy="960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69671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Meta 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806440"/>
            <a:ext cx="155448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5902452"/>
            <a:ext cx="1664207" cy="9601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601675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6126480"/>
            <a:ext cx="91440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6222492"/>
            <a:ext cx="694943" cy="960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633679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6446520"/>
            <a:ext cx="365759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6542532"/>
            <a:ext cx="384048" cy="9601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Permission &amp; 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Role-Based Access with Granular Scope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2860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No access to this 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1554480"/>
            <a:ext cx="22860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Only records created by 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1554480"/>
            <a:ext cx="22860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Records in user's department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0" y="1554480"/>
            <a:ext cx="2286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Full access across all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Increasing access scope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Accounting Permission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can_view_invoices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View invoice list and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23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Submit new invoices + parse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Modify invoice fields + allocations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can_delete_invoices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54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Soft delete / restore / permanent 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Multi-Company Isolation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36576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Autoworld Next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1148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Autoworld Plus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720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50292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AW International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Each company has independent VAT registration,</a:t>
            </a:r>
            <a:br/>
            <a:r>
              <a:t>department structure, and brand hierarchy.</a:t>
            </a:r>
            <a:br/>
            <a:r>
              <a:t>Allocations reference company by name.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91640"/>
            <a:ext cx="32004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4883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Multi-Source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9572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Manual upload, e-Factura ANAF sync, bank statement parsing — all feed into a unified invoice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8035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Smart Cost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Split any invoice across N companies, brands, and departments with percentage-based allocation. Reinvoice flows handle inter-company transfers.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7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AI-Powered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58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Department suggestion, campaign matching, similar item grouping, and auto-match for bank transactions.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Approval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902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Configurable multi-step approval flows with auto-approve thresholds, delegation, and full audit trails.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Budget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21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Direct linkage from invoices to marketing budget lines with actual vs. planned reporting and KPI tracking.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053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Role-based permissions with 4-tier scope (deny/own/department/all) and multi-company data isolation.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JARVIS Accounting Module — Bugetare Process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