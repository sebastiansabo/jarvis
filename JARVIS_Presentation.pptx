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38BDF8"/>
                </a:solidFill>
                <a:latin typeface="Segoe UI"/>
              </a:defRPr>
            </a:pPr>
            <a:r>
              <a:t>JARVIS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3774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CBD5E1"/>
                </a:solidFill>
                <a:latin typeface="Segoe UI"/>
              </a:defRPr>
            </a:pPr>
            <a:r>
              <a:t>Just A Rather Very Intelligent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329184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94A3B8"/>
                </a:solidFill>
                <a:latin typeface="Segoe UI"/>
              </a:defRPr>
            </a:pPr>
            <a:r>
              <a:t>Enterprise Management Platform for AUTOWORLD Group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0" y="4114800"/>
            <a:ext cx="3044952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0" y="47548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  <a:latin typeface="Segoe UI"/>
              </a:defRPr>
            </a:pPr>
            <a:r>
              <a:t>Internal Presentation  |  March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812280"/>
            <a:ext cx="12188952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Agenda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828800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8BDF8"/>
                </a:solidFill>
                <a:latin typeface="Segoe UI"/>
              </a:defRPr>
            </a:pPr>
            <a: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13716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Segoe UI"/>
              </a:defRPr>
            </a:pPr>
            <a:r>
              <a:t>What is JARVIS?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13716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Segoe UI"/>
              </a:defRPr>
            </a:pPr>
            <a:r>
              <a:t>Purpose, vision &amp; target users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8BDF8"/>
                </a:solidFill>
                <a:latin typeface="Segoe UI"/>
              </a:defRPr>
            </a:pPr>
            <a: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18288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Segoe UI"/>
              </a:defRPr>
            </a:pPr>
            <a:r>
              <a:t>Platform Overview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18288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Segoe UI"/>
              </a:defRPr>
            </a:pPr>
            <a:r>
              <a:t>Architecture &amp; technology stack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28600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8BDF8"/>
                </a:solidFill>
                <a:latin typeface="Segoe UI"/>
              </a:defRPr>
            </a:pPr>
            <a:r>
              <a:t>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22860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Segoe UI"/>
              </a:defRPr>
            </a:pPr>
            <a:r>
              <a:t>Accounting Module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22860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Segoe UI"/>
              </a:defRPr>
            </a:pPr>
            <a:r>
              <a:t>Invoices, statements, e-Factura, Bilant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74320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8BDF8"/>
                </a:solidFill>
                <a:latin typeface="Segoe UI"/>
              </a:defRPr>
            </a:pPr>
            <a:r>
              <a:t>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45920" y="27432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Segoe UI"/>
              </a:defRPr>
            </a:pPr>
            <a:r>
              <a:t>CRM Module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0" y="27432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Segoe UI"/>
              </a:defRPr>
            </a:pPr>
            <a:r>
              <a:t>Clients, deals, imports, statistics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20040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8BDF8"/>
                </a:solidFill>
                <a:latin typeface="Segoe UI"/>
              </a:defRPr>
            </a:pPr>
            <a:r>
              <a:t>05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45920" y="32004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Segoe UI"/>
              </a:defRPr>
            </a:pPr>
            <a:r>
              <a:t>HR Module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32004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Segoe UI"/>
              </a:defRPr>
            </a:pPr>
            <a:r>
              <a:t>Events, bonuses, structure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365760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8BDF8"/>
                </a:solidFill>
                <a:latin typeface="Segoe UI"/>
              </a:defRPr>
            </a:pPr>
            <a:r>
              <a:t>06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20" y="36576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Segoe UI"/>
              </a:defRPr>
            </a:pPr>
            <a:r>
              <a:t>Marketing Module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0" y="36576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Segoe UI"/>
              </a:defRPr>
            </a:pPr>
            <a:r>
              <a:t>Projects, budgets, KPIs, OKRs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411480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8BDF8"/>
                </a:solidFill>
                <a:latin typeface="Segoe UI"/>
              </a:defRPr>
            </a:pPr>
            <a:r>
              <a:t>07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45920" y="41148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Segoe UI"/>
              </a:defRPr>
            </a:pPr>
            <a:r>
              <a:t>DMS Module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0" y="41148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Segoe UI"/>
              </a:defRPr>
            </a:pPr>
            <a:r>
              <a:t>Documents, signatures, parties, Drive sync, RAG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457200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8BDF8"/>
                </a:solidFill>
                <a:latin typeface="Segoe UI"/>
              </a:defRPr>
            </a:pPr>
            <a:r>
              <a:t>08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645920" y="45720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Segoe UI"/>
              </a:defRPr>
            </a:pPr>
            <a:r>
              <a:t>AI Agent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0" y="45720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Segoe UI"/>
              </a:defRPr>
            </a:pPr>
            <a:r>
              <a:t>Multi-LLM, RAG, 24 tools, page context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502920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8BDF8"/>
                </a:solidFill>
                <a:latin typeface="Segoe UI"/>
              </a:defRPr>
            </a:pPr>
            <a:r>
              <a:t>09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645920" y="50292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Segoe UI"/>
              </a:defRPr>
            </a:pPr>
            <a:r>
              <a:t>Approval Engine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0" y="50292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Segoe UI"/>
              </a:defRPr>
            </a:pPr>
            <a:r>
              <a:t>Workflows, conditions, delegations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548640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8BDF8"/>
                </a:solidFill>
                <a:latin typeface="Segoe UI"/>
              </a:defRPr>
            </a:pPr>
            <a:r>
              <a:t>10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645920" y="54864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Segoe UI"/>
              </a:defRPr>
            </a:pPr>
            <a:r>
              <a:t>Tags &amp; Notifications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0" y="54864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Segoe UI"/>
              </a:defRPr>
            </a:pPr>
            <a:r>
              <a:t>Smart tagging, real-time alerts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" y="594360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8BDF8"/>
                </a:solidFill>
                <a:latin typeface="Segoe UI"/>
              </a:defRPr>
            </a:pPr>
            <a:r>
              <a:t>11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645920" y="59436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Segoe UI"/>
              </a:defRPr>
            </a:pPr>
            <a:r>
              <a:t>Key Benefits &amp; Roadmap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0" y="59436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Segoe UI"/>
              </a:defRPr>
            </a:pPr>
            <a:r>
              <a:t>Business value &amp; what's next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What is JARVIS?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828800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5486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BD5E1"/>
                </a:solidFill>
                <a:latin typeface="Segoe UI"/>
              </a:defRPr>
            </a:pPr>
            <a:r>
              <a:t>JARVIS is a centralized enterprise management platform built specifically for AUTOWORLD — Romania's leading multi-brand car dealership group.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377440"/>
            <a:ext cx="5486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400">
                <a:solidFill>
                  <a:srgbClr val="38BDF8"/>
                </a:solidFill>
                <a:latin typeface="Segoe UI"/>
              </a:rPr>
              <a:t>▸ </a:t>
            </a:r>
            <a:r>
              <a:rPr sz="1400">
                <a:solidFill>
                  <a:srgbClr val="CBD5E1"/>
                </a:solidFill>
                <a:latin typeface="Segoe UI"/>
              </a:rPr>
              <a:t>Replaces fragmented spreadsheets, manual processes &amp; disconnected tools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400">
                <a:solidFill>
                  <a:srgbClr val="38BDF8"/>
                </a:solidFill>
                <a:latin typeface="Segoe UI"/>
              </a:rPr>
              <a:t>▸ </a:t>
            </a:r>
            <a:r>
              <a:rPr sz="1400">
                <a:solidFill>
                  <a:srgbClr val="CBD5E1"/>
                </a:solidFill>
                <a:latin typeface="Segoe UI"/>
              </a:rPr>
              <a:t>Single source of truth for Accounting, HR, Marketing &amp; Operations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400">
                <a:solidFill>
                  <a:srgbClr val="38BDF8"/>
                </a:solidFill>
                <a:latin typeface="Segoe UI"/>
              </a:rPr>
              <a:t>▸ </a:t>
            </a:r>
            <a:r>
              <a:rPr sz="1400">
                <a:solidFill>
                  <a:srgbClr val="CBD5E1"/>
                </a:solidFill>
                <a:latin typeface="Segoe UI"/>
              </a:rPr>
              <a:t>AI-powered assistance for data analysis, anomaly detection &amp; reporting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400">
                <a:solidFill>
                  <a:srgbClr val="38BDF8"/>
                </a:solidFill>
                <a:latin typeface="Segoe UI"/>
              </a:rPr>
              <a:t>▸ </a:t>
            </a:r>
            <a:r>
              <a:rPr sz="1400">
                <a:solidFill>
                  <a:srgbClr val="CBD5E1"/>
                </a:solidFill>
                <a:latin typeface="Segoe UI"/>
              </a:rPr>
              <a:t>Role-based access control with granular permissions per module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400">
                <a:solidFill>
                  <a:srgbClr val="38BDF8"/>
                </a:solidFill>
                <a:latin typeface="Segoe UI"/>
              </a:rPr>
              <a:t>▸ </a:t>
            </a:r>
            <a:r>
              <a:rPr sz="1400">
                <a:solidFill>
                  <a:srgbClr val="CBD5E1"/>
                </a:solidFill>
                <a:latin typeface="Segoe UI"/>
              </a:rPr>
              <a:t>Multi-company support across all AUTOWORLD entities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400">
                <a:solidFill>
                  <a:srgbClr val="38BDF8"/>
                </a:solidFill>
                <a:latin typeface="Segoe UI"/>
              </a:rPr>
              <a:t>▸ </a:t>
            </a:r>
            <a:r>
              <a:rPr sz="1400">
                <a:solidFill>
                  <a:srgbClr val="CBD5E1"/>
                </a:solidFill>
                <a:latin typeface="Segoe UI"/>
              </a:rPr>
              <a:t>Romanian e-Factura (ANAF) integration for tax compliance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400">
                <a:solidFill>
                  <a:srgbClr val="38BDF8"/>
                </a:solidFill>
                <a:latin typeface="Segoe UI"/>
              </a:rPr>
              <a:t>▸ </a:t>
            </a:r>
            <a:r>
              <a:rPr sz="1400">
                <a:solidFill>
                  <a:srgbClr val="CBD5E1"/>
                </a:solidFill>
                <a:latin typeface="Segoe UI"/>
              </a:rPr>
              <a:t>Real-time approval workflows with configurable business rules</a:t>
            </a:r>
          </a:p>
        </p:txBody>
      </p:sp>
      <p:pic>
        <p:nvPicPr>
          <p:cNvPr id="6" name="Picture 5" descr="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1371600"/>
            <a:ext cx="4846320" cy="272605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Platform at a Glance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828800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2377440" cy="11887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38BDF8"/>
                </a:solidFill>
                <a:latin typeface="Segoe UI"/>
              </a:defRPr>
            </a:pPr>
            <a:r>
              <a:t>772+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4884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API Endpoints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83280" y="1554480"/>
            <a:ext cx="2377440" cy="11887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66160" y="164592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22C55E"/>
                </a:solidFill>
                <a:latin typeface="Segoe UI"/>
              </a:defRPr>
            </a:pPr>
            <a:r>
              <a:t>0+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66160" y="214884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Database Tables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35040" y="1554480"/>
            <a:ext cx="2377440" cy="11887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0" y="164592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A78BFA"/>
                </a:solidFill>
                <a:latin typeface="Segoe UI"/>
              </a:defRPr>
            </a:pPr>
            <a:r>
              <a:t>169+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214884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React Components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86800" y="1554480"/>
            <a:ext cx="2377440" cy="11887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69680" y="164592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59E0B"/>
                </a:solidFill>
                <a:latin typeface="Segoe UI"/>
              </a:defRPr>
            </a:pPr>
            <a:r>
              <a:t>923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0" y="214884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Tests Passing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017520"/>
            <a:ext cx="2377440" cy="11887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310896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38BDF8"/>
                </a:solidFill>
                <a:latin typeface="Segoe UI"/>
              </a:defRPr>
            </a:pPr>
            <a:r>
              <a:t>29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361188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Flask Blueprints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383280" y="3017520"/>
            <a:ext cx="2377440" cy="11887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566160" y="310896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22C55E"/>
                </a:solidFill>
                <a:latin typeface="Segoe UI"/>
              </a:defRPr>
            </a:pPr>
            <a:r>
              <a:t>82+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66160" y="361188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Repository Classes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035040" y="3017520"/>
            <a:ext cx="2377440" cy="11887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17920" y="310896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A78BFA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20" y="361188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AI Providers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686800" y="3017520"/>
            <a:ext cx="2377440" cy="11887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869680" y="310896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59E0B"/>
                </a:solidFill>
                <a:latin typeface="Segoe UI"/>
              </a:defRPr>
            </a:pPr>
            <a:r>
              <a:t>24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69680" y="361188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AI Tools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475488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  <a:latin typeface="Segoe UI"/>
              </a:defRPr>
            </a:pPr>
            <a:r>
              <a:t>Built with Flask + PostgreSQL + React 19 + TypeScript + Tailwind CSS</a:t>
            </a:r>
            <a:br/>
            <a:r>
              <a:t>Deployed on DigitalOcean App Platform with auto-deploy from Git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Architecture &amp; Tech Stack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828800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029200" cy="6858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1732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8BDF8"/>
                </a:solidFill>
                <a:latin typeface="Segoe UI"/>
              </a:defRPr>
            </a:pPr>
            <a:r>
              <a:t>Frontend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6916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Segoe UI"/>
              </a:defRPr>
            </a:pPr>
            <a:r>
              <a:t>React 19 + TypeScript + Vite + Tailwind 4 + shadcn/ui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148840"/>
            <a:ext cx="5029200" cy="6858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19456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A78BFA"/>
                </a:solidFill>
                <a:latin typeface="Segoe UI"/>
              </a:defRPr>
            </a:pPr>
            <a:r>
              <a:t>State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4688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Segoe UI"/>
              </a:defRPr>
            </a:pPr>
            <a:r>
              <a:t>Zustand (app state) + React Query (server state)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926080"/>
            <a:ext cx="5029200" cy="6858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97180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2C55E"/>
                </a:solidFill>
                <a:latin typeface="Segoe UI"/>
              </a:defRPr>
            </a:pPr>
            <a:r>
              <a:t>API Layer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2461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Segoe UI"/>
              </a:defRPr>
            </a:pPr>
            <a:r>
              <a:t>Flask RESTful + 20+ Blueprints + 300+ endpoints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703320"/>
            <a:ext cx="5029200" cy="6858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74904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9E0B"/>
                </a:solidFill>
                <a:latin typeface="Segoe UI"/>
              </a:defRPr>
            </a:pPr>
            <a:r>
              <a:t>Services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0233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Segoe UI"/>
              </a:defRPr>
            </a:pPr>
            <a:r>
              <a:t>Business logic layer (InvoiceService, ProjectService, etc.)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480560"/>
            <a:ext cx="5029200" cy="6858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452628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8BDF8"/>
                </a:solidFill>
                <a:latin typeface="Segoe UI"/>
              </a:defRPr>
            </a:pPr>
            <a:r>
              <a:t>Repositories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8006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Segoe UI"/>
              </a:defRPr>
            </a:pPr>
            <a:r>
              <a:t>45+ BaseRepository classes with connection pooling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5257800"/>
            <a:ext cx="5029200" cy="6858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530352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2C55E"/>
                </a:solidFill>
                <a:latin typeface="Segoe UI"/>
              </a:defRPr>
            </a:pPr>
            <a:r>
              <a:t>Database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55778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Segoe UI"/>
              </a:defRPr>
            </a:pPr>
            <a:r>
              <a:t>PostgreSQL 14+ with pgvector, pg_trgm, 100+ indexes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13716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8BDF8"/>
                </a:solidFill>
                <a:latin typeface="Segoe UI"/>
              </a:defRPr>
            </a:pPr>
            <a:r>
              <a:t>Deployment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182880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300">
                <a:solidFill>
                  <a:srgbClr val="38BDF8"/>
                </a:solidFill>
                <a:latin typeface="Segoe UI"/>
              </a:rPr>
              <a:t>▸ </a:t>
            </a:r>
            <a:r>
              <a:rPr sz="1300">
                <a:solidFill>
                  <a:srgbClr val="CBD5E1"/>
                </a:solidFill>
                <a:latin typeface="Segoe UI"/>
              </a:rPr>
              <a:t>DigitalOcean App Platform (Frankfurt)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300">
                <a:solidFill>
                  <a:srgbClr val="38BDF8"/>
                </a:solidFill>
                <a:latin typeface="Segoe UI"/>
              </a:rPr>
              <a:t>▸ </a:t>
            </a:r>
            <a:r>
              <a:rPr sz="1300">
                <a:solidFill>
                  <a:srgbClr val="CBD5E1"/>
                </a:solidFill>
                <a:latin typeface="Segoe UI"/>
              </a:rPr>
              <a:t>Multi-stage Docker (Node 22 + Python 3.11)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300">
                <a:solidFill>
                  <a:srgbClr val="38BDF8"/>
                </a:solidFill>
                <a:latin typeface="Segoe UI"/>
              </a:rPr>
              <a:t>▸ </a:t>
            </a:r>
            <a:r>
              <a:rPr sz="1300">
                <a:solidFill>
                  <a:srgbClr val="CBD5E1"/>
                </a:solidFill>
                <a:latin typeface="Segoe UI"/>
              </a:rPr>
              <a:t>Gunicorn: 3 workers x 3 threads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300">
                <a:solidFill>
                  <a:srgbClr val="38BDF8"/>
                </a:solidFill>
                <a:latin typeface="Segoe UI"/>
              </a:rPr>
              <a:t>▸ </a:t>
            </a:r>
            <a:r>
              <a:rPr sz="1300">
                <a:solidFill>
                  <a:srgbClr val="CBD5E1"/>
                </a:solidFill>
                <a:latin typeface="Segoe UI"/>
              </a:rPr>
              <a:t>Auto-deploy on push to staging branch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300">
                <a:solidFill>
                  <a:srgbClr val="38BDF8"/>
                </a:solidFill>
                <a:latin typeface="Segoe UI"/>
              </a:rPr>
              <a:t>▸ </a:t>
            </a:r>
            <a:r>
              <a:rPr sz="1300">
                <a:solidFill>
                  <a:srgbClr val="CBD5E1"/>
                </a:solidFill>
                <a:latin typeface="Segoe UI"/>
              </a:rPr>
              <a:t>PostgreSQL managed cluster (1vCPU/2GB)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300">
                <a:solidFill>
                  <a:srgbClr val="38BDF8"/>
                </a:solidFill>
                <a:latin typeface="Segoe UI"/>
              </a:rPr>
              <a:t>▸ </a:t>
            </a:r>
            <a:r>
              <a:rPr sz="1300">
                <a:solidFill>
                  <a:srgbClr val="CBD5E1"/>
                </a:solidFill>
                <a:latin typeface="Segoe UI"/>
              </a:rPr>
              <a:t>Connection pool: 8/worker, 47 max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300">
                <a:solidFill>
                  <a:srgbClr val="38BDF8"/>
                </a:solidFill>
                <a:latin typeface="Segoe UI"/>
              </a:rPr>
              <a:t>▸ </a:t>
            </a:r>
            <a:r>
              <a:rPr sz="1300">
                <a:solidFill>
                  <a:srgbClr val="CBD5E1"/>
                </a:solidFill>
                <a:latin typeface="Segoe UI"/>
              </a:rPr>
              <a:t>Response time: 90-160ms (warm)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42062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2C55E"/>
                </a:solidFill>
                <a:latin typeface="Segoe UI"/>
              </a:defRPr>
            </a:pPr>
            <a:r>
              <a:t>Integrations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466344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300">
                <a:solidFill>
                  <a:srgbClr val="22C55E"/>
                </a:solidFill>
                <a:latin typeface="Segoe UI"/>
              </a:rPr>
              <a:t>▸ </a:t>
            </a:r>
            <a:r>
              <a:rPr sz="1300">
                <a:solidFill>
                  <a:srgbClr val="CBD5E1"/>
                </a:solidFill>
                <a:latin typeface="Segoe UI"/>
              </a:rPr>
              <a:t>ANAF e-Factura (OAuth2 + UBL 2.1 XML)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300">
                <a:solidFill>
                  <a:srgbClr val="22C55E"/>
                </a:solidFill>
                <a:latin typeface="Segoe UI"/>
              </a:rPr>
              <a:t>▸ </a:t>
            </a:r>
            <a:r>
              <a:rPr sz="1300">
                <a:solidFill>
                  <a:srgbClr val="CBD5E1"/>
                </a:solidFill>
                <a:latin typeface="Segoe UI"/>
              </a:rPr>
              <a:t>Google Drive (file storage)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300">
                <a:solidFill>
                  <a:srgbClr val="22C55E"/>
                </a:solidFill>
                <a:latin typeface="Segoe UI"/>
              </a:rPr>
              <a:t>▸ </a:t>
            </a:r>
            <a:r>
              <a:rPr sz="1300">
                <a:solidFill>
                  <a:srgbClr val="CBD5E1"/>
                </a:solidFill>
                <a:latin typeface="Segoe UI"/>
              </a:rPr>
              <a:t>Claude, OpenAI, Groq, Gemini (AI)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300">
                <a:solidFill>
                  <a:srgbClr val="22C55E"/>
                </a:solidFill>
                <a:latin typeface="Segoe UI"/>
              </a:rPr>
              <a:t>▸ </a:t>
            </a:r>
            <a:r>
              <a:rPr sz="1300">
                <a:solidFill>
                  <a:srgbClr val="CBD5E1"/>
                </a:solidFill>
                <a:latin typeface="Segoe UI"/>
              </a:rPr>
              <a:t>BNR Exchange Rates (multi-currency)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Module Overview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828800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280160"/>
            <a:ext cx="3566160" cy="12344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37160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8BDF8"/>
                </a:solidFill>
                <a:latin typeface="Segoe UI"/>
              </a:defRPr>
            </a:pPr>
            <a:r>
              <a:t>Accounting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691640"/>
            <a:ext cx="3291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Segoe UI"/>
              </a:defRPr>
            </a:pPr>
            <a:r>
              <a:t>Invoices, allocations, Bilant,</a:t>
            </a:r>
            <a:br/>
            <a:r>
              <a:t>multi-currency, VAT subtraction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286000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70+ endpoints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06240" y="1280160"/>
            <a:ext cx="3566160" cy="12344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43400" y="137160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2C55E"/>
                </a:solidFill>
                <a:latin typeface="Segoe UI"/>
              </a:defRPr>
            </a:pPr>
            <a:r>
              <a:t>Bank Statements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43400" y="1691640"/>
            <a:ext cx="3291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Segoe UI"/>
              </a:defRPr>
            </a:pPr>
            <a:r>
              <a:t>Upload, parse, transaction</a:t>
            </a:r>
            <a:br/>
            <a:r>
              <a:t>linking, vendor mappings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43400" y="2286000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11 endpoints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55280" y="1280160"/>
            <a:ext cx="3566160" cy="12344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92440" y="137160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59E0B"/>
                </a:solidFill>
                <a:latin typeface="Segoe UI"/>
              </a:defRPr>
            </a:pPr>
            <a:r>
              <a:t>e-Factura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92440" y="1691640"/>
            <a:ext cx="3291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Segoe UI"/>
              </a:defRPr>
            </a:pPr>
            <a:r>
              <a:t>ANAF integration, XML parsing,</a:t>
            </a:r>
            <a:br/>
            <a:r>
              <a:t>supplier mappings, sync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92440" y="2286000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30+ endpoints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2606040"/>
            <a:ext cx="3566160" cy="12344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" y="269748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F4444"/>
                </a:solidFill>
                <a:latin typeface="Segoe UI"/>
              </a:defRPr>
            </a:pPr>
            <a:r>
              <a:t>CRM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3017520"/>
            <a:ext cx="3291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Segoe UI"/>
              </a:defRPr>
            </a:pPr>
            <a:r>
              <a:t>Clients, car deals (NW/GW),</a:t>
            </a:r>
            <a:br/>
            <a:r>
              <a:t>imports, stats, de-duplication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3611880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22+ endpoints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06240" y="2606040"/>
            <a:ext cx="3566160" cy="12344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43400" y="269748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A78BFA"/>
                </a:solidFill>
                <a:latin typeface="Segoe UI"/>
              </a:defRPr>
            </a:pPr>
            <a:r>
              <a:t>HR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43400" y="3017520"/>
            <a:ext cx="3291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Segoe UI"/>
              </a:defRPr>
            </a:pPr>
            <a:r>
              <a:t>Events, bonuses, employees,</a:t>
            </a:r>
            <a:br/>
            <a:r>
              <a:t>company structure, export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43400" y="3611880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18 endpoints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955280" y="2606040"/>
            <a:ext cx="3566160" cy="12344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92440" y="269748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8BDF8"/>
                </a:solidFill>
                <a:latin typeface="Segoe UI"/>
              </a:defRPr>
            </a:pPr>
            <a:r>
              <a:t>Marketing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92440" y="3017520"/>
            <a:ext cx="3291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Segoe UI"/>
              </a:defRPr>
            </a:pPr>
            <a:r>
              <a:t>Projects, budgets, KPIs, OKR,</a:t>
            </a:r>
            <a:br/>
            <a:r>
              <a:t>team, events, dashboard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92440" y="3611880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57 endpoints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3931920"/>
            <a:ext cx="3566160" cy="12344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94360" y="402336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F4444"/>
                </a:solidFill>
                <a:latin typeface="Segoe UI"/>
              </a:defRPr>
            </a:pPr>
            <a:r>
              <a:t>DMS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" y="4343400"/>
            <a:ext cx="3291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Segoe UI"/>
              </a:defRPr>
            </a:pPr>
            <a:r>
              <a:t>Documents, signatures, parties,</a:t>
            </a:r>
            <a:br/>
            <a:r>
              <a:t>Drive sync, WML extraction, RAG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4360" y="4937760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35+ endpoints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206240" y="3931920"/>
            <a:ext cx="3566160" cy="12344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43400" y="402336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2C55E"/>
                </a:solidFill>
                <a:latin typeface="Segoe UI"/>
              </a:defRPr>
            </a:pPr>
            <a:r>
              <a:t>AI Agent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43400" y="4343400"/>
            <a:ext cx="3291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Segoe UI"/>
              </a:defRPr>
            </a:pPr>
            <a:r>
              <a:t>4 LLM providers, RAG,</a:t>
            </a:r>
            <a:br/>
            <a:r>
              <a:t>streaming, 24 tools, analytics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43400" y="4937760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10 endpoints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955280" y="3931920"/>
            <a:ext cx="3566160" cy="12344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092440" y="402336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59E0B"/>
                </a:solidFill>
                <a:latin typeface="Segoe UI"/>
              </a:defRPr>
            </a:pPr>
            <a:r>
              <a:t>Approvals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092440" y="4343400"/>
            <a:ext cx="3291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Segoe UI"/>
              </a:defRPr>
            </a:pPr>
            <a:r>
              <a:t>Multi-step flows, conditions,</a:t>
            </a:r>
            <a:br/>
            <a:r>
              <a:t>delegations, audit trail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092440" y="4937760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22 endpoints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57200" y="5257800"/>
            <a:ext cx="3566160" cy="12344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94360" y="534924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A78BFA"/>
                </a:solidFill>
                <a:latin typeface="Segoe UI"/>
              </a:defRPr>
            </a:pPr>
            <a:r>
              <a:t>Tags &amp; Notifications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94360" y="5669280"/>
            <a:ext cx="3291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Segoe UI"/>
              </a:defRPr>
            </a:pPr>
            <a:r>
              <a:t>Auto-tag rules, AI suggest,</a:t>
            </a:r>
            <a:br/>
            <a:r>
              <a:t>in-app alerts, email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94360" y="6263640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21 endpoints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31520" y="64008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4A3B8"/>
                </a:solidFill>
                <a:latin typeface="Segoe UI"/>
              </a:defRPr>
            </a:pPr>
            <a:r>
              <a:t>Plus:  Settings (11 tabs)  |  User Profile  |  Dashboard  |  Roles &amp; Permissions  |  Organization Management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Accounting Module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828800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300">
                <a:solidFill>
                  <a:srgbClr val="38BDF8"/>
                </a:solidFill>
                <a:latin typeface="Segoe UI"/>
              </a:rPr>
              <a:t>▸ </a:t>
            </a:r>
            <a:r>
              <a:rPr sz="1300">
                <a:solidFill>
                  <a:srgbClr val="CBD5E1"/>
                </a:solidFill>
                <a:latin typeface="Segoe UI"/>
              </a:rPr>
              <a:t>Invoice CRUD with multi-currency support (RON/EUR/USD)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300">
                <a:solidFill>
                  <a:srgbClr val="38BDF8"/>
                </a:solidFill>
                <a:latin typeface="Segoe UI"/>
              </a:rPr>
              <a:t>▸ </a:t>
            </a:r>
            <a:r>
              <a:rPr sz="1300">
                <a:solidFill>
                  <a:srgbClr val="CBD5E1"/>
                </a:solidFill>
                <a:latin typeface="Segoe UI"/>
              </a:rPr>
              <a:t>AI-powered invoice parsing via Claude Vision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300">
                <a:solidFill>
                  <a:srgbClr val="38BDF8"/>
                </a:solidFill>
                <a:latin typeface="Segoe UI"/>
              </a:rPr>
              <a:t>▸ </a:t>
            </a:r>
            <a:r>
              <a:rPr sz="1300">
                <a:solidFill>
                  <a:srgbClr val="CBD5E1"/>
                </a:solidFill>
                <a:latin typeface="Segoe UI"/>
              </a:rPr>
              <a:t>Line item extraction with campaign matching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300">
                <a:solidFill>
                  <a:srgbClr val="38BDF8"/>
                </a:solidFill>
                <a:latin typeface="Segoe UI"/>
              </a:rPr>
              <a:t>▸ </a:t>
            </a:r>
            <a:r>
              <a:rPr sz="1300">
                <a:solidFill>
                  <a:srgbClr val="CBD5E1"/>
                </a:solidFill>
                <a:latin typeface="Segoe UI"/>
              </a:rPr>
              <a:t>Allocation system: split invoices across departments &amp; brands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300">
                <a:solidFill>
                  <a:srgbClr val="38BDF8"/>
                </a:solidFill>
                <a:latin typeface="Segoe UI"/>
              </a:rPr>
              <a:t>▸ </a:t>
            </a:r>
            <a:r>
              <a:rPr sz="1300">
                <a:solidFill>
                  <a:srgbClr val="CBD5E1"/>
                </a:solidFill>
                <a:latin typeface="Segoe UI"/>
              </a:rPr>
              <a:t>VAT subtraction with configurable rates (19%, 9%, 5%, 0%)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300">
                <a:solidFill>
                  <a:srgbClr val="38BDF8"/>
                </a:solidFill>
                <a:latin typeface="Segoe UI"/>
              </a:rPr>
              <a:t>▸ </a:t>
            </a:r>
            <a:r>
              <a:rPr sz="1300">
                <a:solidFill>
                  <a:srgbClr val="CBD5E1"/>
                </a:solidFill>
                <a:latin typeface="Segoe UI"/>
              </a:rPr>
              <a:t>Duplicate detection (exact + AI fuzzy matching)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300">
                <a:solidFill>
                  <a:srgbClr val="38BDF8"/>
                </a:solidFill>
                <a:latin typeface="Segoe UI"/>
              </a:rPr>
              <a:t>▸ </a:t>
            </a:r>
            <a:r>
              <a:rPr sz="1300">
                <a:solidFill>
                  <a:srgbClr val="CBD5E1"/>
                </a:solidFill>
                <a:latin typeface="Segoe UI"/>
              </a:rPr>
              <a:t>Bank statement import &amp; transaction linking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300">
                <a:solidFill>
                  <a:srgbClr val="38BDF8"/>
                </a:solidFill>
                <a:latin typeface="Segoe UI"/>
              </a:rPr>
              <a:t>▸ </a:t>
            </a:r>
            <a:r>
              <a:rPr sz="1300">
                <a:solidFill>
                  <a:srgbClr val="CBD5E1"/>
                </a:solidFill>
                <a:latin typeface="Segoe UI"/>
              </a:rPr>
              <a:t>Multi-destination reinvoicing with lock &amp; tracking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300">
                <a:solidFill>
                  <a:srgbClr val="38BDF8"/>
                </a:solidFill>
                <a:latin typeface="Segoe UI"/>
              </a:rPr>
              <a:t>▸ </a:t>
            </a:r>
            <a:r>
              <a:rPr sz="1300">
                <a:solidFill>
                  <a:srgbClr val="CBD5E1"/>
                </a:solidFill>
                <a:latin typeface="Segoe UI"/>
              </a:rPr>
              <a:t>Bilant (Balance Sheet) generator with ANAF XML export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300">
                <a:solidFill>
                  <a:srgbClr val="38BDF8"/>
                </a:solidFill>
                <a:latin typeface="Segoe UI"/>
              </a:rPr>
              <a:t>▸ </a:t>
            </a:r>
            <a:r>
              <a:rPr sz="1300">
                <a:solidFill>
                  <a:srgbClr val="CBD5E1"/>
                </a:solidFill>
                <a:latin typeface="Segoe UI"/>
              </a:rPr>
              <a:t>Chart of accounts, CT formula autocomplete, balanta.txt export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300">
                <a:solidFill>
                  <a:srgbClr val="38BDF8"/>
                </a:solidFill>
                <a:latin typeface="Segoe UI"/>
              </a:rPr>
              <a:t>▸ </a:t>
            </a:r>
            <a:r>
              <a:rPr sz="1300">
                <a:solidFill>
                  <a:srgbClr val="CBD5E1"/>
                </a:solidFill>
                <a:latin typeface="Segoe UI"/>
              </a:rPr>
              <a:t>Column management: reorder, show/hide, resize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300">
                <a:solidFill>
                  <a:srgbClr val="38BDF8"/>
                </a:solidFill>
                <a:latin typeface="Segoe UI"/>
              </a:rPr>
              <a:t>▸ </a:t>
            </a:r>
            <a:r>
              <a:rPr sz="1300">
                <a:solidFill>
                  <a:srgbClr val="CBD5E1"/>
                </a:solidFill>
                <a:latin typeface="Segoe UI"/>
              </a:rPr>
              <a:t>Filter presets: save &amp; restore custom views</a:t>
            </a:r>
          </a:p>
        </p:txBody>
      </p:sp>
      <p:pic>
        <p:nvPicPr>
          <p:cNvPr id="5" name="Picture 4" descr="account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188720"/>
            <a:ext cx="5486400" cy="30861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CRM Module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828800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300">
                <a:solidFill>
                  <a:srgbClr val="38BDF8"/>
                </a:solidFill>
                <a:latin typeface="Segoe UI"/>
              </a:rPr>
              <a:t>▸ </a:t>
            </a:r>
            <a:r>
              <a:rPr sz="1300">
                <a:solidFill>
                  <a:srgbClr val="CBD5E1"/>
                </a:solidFill>
                <a:latin typeface="Segoe UI"/>
              </a:rPr>
              <a:t>Client management: persons &amp; companies with contact data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300">
                <a:solidFill>
                  <a:srgbClr val="38BDF8"/>
                </a:solidFill>
                <a:latin typeface="Segoe UI"/>
              </a:rPr>
              <a:t>▸ </a:t>
            </a:r>
            <a:r>
              <a:rPr sz="1300">
                <a:solidFill>
                  <a:srgbClr val="CBD5E1"/>
                </a:solidFill>
                <a:latin typeface="Segoe UI"/>
              </a:rPr>
              <a:t>Car deal tracking: New (NW) and Used (GW) vehicles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300">
                <a:solidFill>
                  <a:srgbClr val="38BDF8"/>
                </a:solidFill>
                <a:latin typeface="Segoe UI"/>
              </a:rPr>
              <a:t>▸ </a:t>
            </a:r>
            <a:r>
              <a:rPr sz="1300">
                <a:solidFill>
                  <a:srgbClr val="CBD5E1"/>
                </a:solidFill>
                <a:latin typeface="Segoe UI"/>
              </a:rPr>
              <a:t>Dashboard: client stats, deal breakdown by brand, import history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300">
                <a:solidFill>
                  <a:srgbClr val="38BDF8"/>
                </a:solidFill>
                <a:latin typeface="Segoe UI"/>
              </a:rPr>
              <a:t>▸ </a:t>
            </a:r>
            <a:r>
              <a:rPr sz="1300">
                <a:solidFill>
                  <a:srgbClr val="CBD5E1"/>
                </a:solidFill>
                <a:latin typeface="Segoe UI"/>
              </a:rPr>
              <a:t>Sales tab: browse dossiers with brand/model/status/buyer filters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300">
                <a:solidFill>
                  <a:srgbClr val="38BDF8"/>
                </a:solidFill>
                <a:latin typeface="Segoe UI"/>
              </a:rPr>
              <a:t>▸ </a:t>
            </a:r>
            <a:r>
              <a:rPr sz="1300">
                <a:solidFill>
                  <a:srgbClr val="CBD5E1"/>
                </a:solidFill>
                <a:latin typeface="Segoe UI"/>
              </a:rPr>
              <a:t>Statistics: deals by brand, dealer, salesperson, month &amp; region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300">
                <a:solidFill>
                  <a:srgbClr val="38BDF8"/>
                </a:solidFill>
                <a:latin typeface="Segoe UI"/>
              </a:rPr>
              <a:t>▸ </a:t>
            </a:r>
            <a:r>
              <a:rPr sz="1300">
                <a:solidFill>
                  <a:srgbClr val="CBD5E1"/>
                </a:solidFill>
                <a:latin typeface="Segoe UI"/>
              </a:rPr>
              <a:t>Client de-duplication &amp; merge tool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300">
                <a:solidFill>
                  <a:srgbClr val="38BDF8"/>
                </a:solidFill>
                <a:latin typeface="Segoe UI"/>
              </a:rPr>
              <a:t>▸ </a:t>
            </a:r>
            <a:r>
              <a:rPr sz="1300">
                <a:solidFill>
                  <a:srgbClr val="CBD5E1"/>
                </a:solidFill>
                <a:latin typeface="Segoe UI"/>
              </a:rPr>
              <a:t>Data import: parse NW, GW &amp; client files with validation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300">
                <a:solidFill>
                  <a:srgbClr val="38BDF8"/>
                </a:solidFill>
                <a:latin typeface="Segoe UI"/>
              </a:rPr>
              <a:t>▸ </a:t>
            </a:r>
            <a:r>
              <a:rPr sz="1300">
                <a:solidFill>
                  <a:srgbClr val="CBD5E1"/>
                </a:solidFill>
                <a:latin typeface="Segoe UI"/>
              </a:rPr>
              <a:t>Trade register (Nr. Reg) extraction from client names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300">
                <a:solidFill>
                  <a:srgbClr val="38BDF8"/>
                </a:solidFill>
                <a:latin typeface="Segoe UI"/>
              </a:rPr>
              <a:t>▸ </a:t>
            </a:r>
            <a:r>
              <a:rPr sz="1300">
                <a:solidFill>
                  <a:srgbClr val="CBD5E1"/>
                </a:solidFill>
                <a:latin typeface="Segoe UI"/>
              </a:rPr>
              <a:t>Client-deal linking with profit &amp; pricing data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300">
                <a:solidFill>
                  <a:srgbClr val="38BDF8"/>
                </a:solidFill>
                <a:latin typeface="Segoe UI"/>
              </a:rPr>
              <a:t>▸ </a:t>
            </a:r>
            <a:r>
              <a:rPr sz="1300">
                <a:solidFill>
                  <a:srgbClr val="CBD5E1"/>
                </a:solidFill>
                <a:latin typeface="Segoe UI"/>
              </a:rPr>
              <a:t>AI-integrated: 5 CRM search tools in AI Agent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300">
                <a:solidFill>
                  <a:srgbClr val="38BDF8"/>
                </a:solidFill>
                <a:latin typeface="Segoe UI"/>
              </a:rPr>
              <a:t>▸ </a:t>
            </a:r>
            <a:r>
              <a:rPr sz="1300">
                <a:solidFill>
                  <a:srgbClr val="CBD5E1"/>
                </a:solidFill>
                <a:latin typeface="Segoe UI"/>
              </a:rPr>
              <a:t>Contact coverage analysis &amp; data quality metrics</a:t>
            </a:r>
          </a:p>
        </p:txBody>
      </p:sp>
      <p:pic>
        <p:nvPicPr>
          <p:cNvPr id="5" name="Picture 4" descr="cr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188720"/>
            <a:ext cx="5486400" cy="331097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e-Factura Integration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828800" cy="381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300">
                <a:solidFill>
                  <a:srgbClr val="F59E0B"/>
                </a:solidFill>
                <a:latin typeface="Segoe UI"/>
              </a:rPr>
              <a:t>▸ </a:t>
            </a:r>
            <a:r>
              <a:rPr sz="1300">
                <a:solidFill>
                  <a:srgbClr val="CBD5E1"/>
                </a:solidFill>
                <a:latin typeface="Segoe UI"/>
              </a:rPr>
              <a:t>OAuth2 authentication with ANAF (Romanian Tax Authority)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300">
                <a:solidFill>
                  <a:srgbClr val="F59E0B"/>
                </a:solidFill>
                <a:latin typeface="Segoe UI"/>
              </a:rPr>
              <a:t>▸ </a:t>
            </a:r>
            <a:r>
              <a:rPr sz="1300">
                <a:solidFill>
                  <a:srgbClr val="CBD5E1"/>
                </a:solidFill>
                <a:latin typeface="Segoe UI"/>
              </a:rPr>
              <a:t>UBL 2.1 XML parsing for Romanian e-invoices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300">
                <a:solidFill>
                  <a:srgbClr val="F59E0B"/>
                </a:solidFill>
                <a:latin typeface="Segoe UI"/>
              </a:rPr>
              <a:t>▸ </a:t>
            </a:r>
            <a:r>
              <a:rPr sz="1300">
                <a:solidFill>
                  <a:srgbClr val="CBD5E1"/>
                </a:solidFill>
                <a:latin typeface="Segoe UI"/>
              </a:rPr>
              <a:t>Automated message sync with ZIP handling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300">
                <a:solidFill>
                  <a:srgbClr val="F59E0B"/>
                </a:solidFill>
                <a:latin typeface="Segoe UI"/>
              </a:rPr>
              <a:t>▸ </a:t>
            </a:r>
            <a:r>
              <a:rPr sz="1300">
                <a:solidFill>
                  <a:srgbClr val="CBD5E1"/>
                </a:solidFill>
                <a:latin typeface="Segoe UI"/>
              </a:rPr>
              <a:t>Supplier mapping with type categorization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300">
                <a:solidFill>
                  <a:srgbClr val="F59E0B"/>
                </a:solidFill>
                <a:latin typeface="Segoe UI"/>
              </a:rPr>
              <a:t>▸ </a:t>
            </a:r>
            <a:r>
              <a:rPr sz="1300">
                <a:solidFill>
                  <a:srgbClr val="CBD5E1"/>
                </a:solidFill>
                <a:latin typeface="Segoe UI"/>
              </a:rPr>
              <a:t>Duplicate detection &amp; correction tracking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300">
                <a:solidFill>
                  <a:srgbClr val="F59E0B"/>
                </a:solidFill>
                <a:latin typeface="Segoe UI"/>
              </a:rPr>
              <a:t>▸ </a:t>
            </a:r>
            <a:r>
              <a:rPr sz="1300">
                <a:solidFill>
                  <a:srgbClr val="CBD5E1"/>
                </a:solidFill>
                <a:latin typeface="Segoe UI"/>
              </a:rPr>
              <a:t>Allocation status: Unallocated / Hidden / Allocated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300">
                <a:solidFill>
                  <a:srgbClr val="F59E0B"/>
                </a:solidFill>
                <a:latin typeface="Segoe UI"/>
              </a:rPr>
              <a:t>▸ </a:t>
            </a:r>
            <a:r>
              <a:rPr sz="1300">
                <a:solidFill>
                  <a:srgbClr val="CBD5E1"/>
                </a:solidFill>
                <a:latin typeface="Segoe UI"/>
              </a:rPr>
              <a:t>Rate limiting: 150 requests/hour compliance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300">
                <a:solidFill>
                  <a:srgbClr val="F59E0B"/>
                </a:solidFill>
                <a:latin typeface="Segoe UI"/>
              </a:rPr>
              <a:t>▸ </a:t>
            </a:r>
            <a:r>
              <a:rPr sz="1300">
                <a:solidFill>
                  <a:srgbClr val="CBD5E1"/>
                </a:solidFill>
                <a:latin typeface="Segoe UI"/>
              </a:rPr>
              <a:t>Sync history with error tracking &amp; retry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300">
                <a:solidFill>
                  <a:srgbClr val="F59E0B"/>
                </a:solidFill>
                <a:latin typeface="Segoe UI"/>
              </a:rPr>
              <a:t>▸ </a:t>
            </a:r>
            <a:r>
              <a:rPr sz="1300">
                <a:solidFill>
                  <a:srgbClr val="CBD5E1"/>
                </a:solidFill>
                <a:latin typeface="Segoe UI"/>
              </a:rPr>
              <a:t>Auto-link with internal invoices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300">
                <a:solidFill>
                  <a:srgbClr val="F59E0B"/>
                </a:solidFill>
                <a:latin typeface="Segoe UI"/>
              </a:rPr>
              <a:t>▸ </a:t>
            </a:r>
            <a:r>
              <a:rPr sz="1300">
                <a:solidFill>
                  <a:srgbClr val="CBD5E1"/>
                </a:solidFill>
                <a:latin typeface="Segoe UI"/>
              </a:rPr>
              <a:t>"Hide Typed" filter for focused processing</a:t>
            </a:r>
          </a:p>
        </p:txBody>
      </p:sp>
      <p:pic>
        <p:nvPicPr>
          <p:cNvPr id="5" name="Picture 4" descr="efactura-unalloca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188720"/>
            <a:ext cx="5486400" cy="321197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HR Module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828800" cy="3810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400">
                <a:solidFill>
                  <a:srgbClr val="A78BFA"/>
                </a:solidFill>
                <a:latin typeface="Segoe UI"/>
              </a:rPr>
              <a:t>▸ </a:t>
            </a:r>
            <a:r>
              <a:rPr sz="1400">
                <a:solidFill>
                  <a:srgbClr val="CBD5E1"/>
                </a:solidFill>
                <a:latin typeface="Segoe UI"/>
              </a:rPr>
              <a:t>Employee event management with date ranges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400">
                <a:solidFill>
                  <a:srgbClr val="A78BFA"/>
                </a:solidFill>
                <a:latin typeface="Segoe UI"/>
              </a:rPr>
              <a:t>▸ </a:t>
            </a:r>
            <a:r>
              <a:rPr sz="1400">
                <a:solidFill>
                  <a:srgbClr val="CBD5E1"/>
                </a:solidFill>
                <a:latin typeface="Segoe UI"/>
              </a:rPr>
              <a:t>Bonus tracking per user with configurable types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400">
                <a:solidFill>
                  <a:srgbClr val="A78BFA"/>
                </a:solidFill>
                <a:latin typeface="Segoe UI"/>
              </a:rPr>
              <a:t>▸ </a:t>
            </a:r>
            <a:r>
              <a:rPr sz="1400">
                <a:solidFill>
                  <a:srgbClr val="CBD5E1"/>
                </a:solidFill>
                <a:latin typeface="Segoe UI"/>
              </a:rPr>
              <a:t>Lock schedule: bonuses lock on 5th of month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400">
                <a:solidFill>
                  <a:srgbClr val="A78BFA"/>
                </a:solidFill>
                <a:latin typeface="Segoe UI"/>
              </a:rPr>
              <a:t>▸ </a:t>
            </a:r>
            <a:r>
              <a:rPr sz="1400">
                <a:solidFill>
                  <a:srgbClr val="CBD5E1"/>
                </a:solidFill>
                <a:latin typeface="Segoe UI"/>
              </a:rPr>
              <a:t>Company structure hierarchy (managers, contacts)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400">
                <a:solidFill>
                  <a:srgbClr val="A78BFA"/>
                </a:solidFill>
                <a:latin typeface="Segoe UI"/>
              </a:rPr>
              <a:t>▸ </a:t>
            </a:r>
            <a:r>
              <a:rPr sz="1400">
                <a:solidFill>
                  <a:srgbClr val="CBD5E1"/>
                </a:solidFill>
                <a:latin typeface="Segoe UI"/>
              </a:rPr>
              <a:t>Excel export with aggregated bonus data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400">
                <a:solidFill>
                  <a:srgbClr val="A78BFA"/>
                </a:solidFill>
                <a:latin typeface="Segoe UI"/>
              </a:rPr>
              <a:t>▸ </a:t>
            </a:r>
            <a:r>
              <a:rPr sz="1400">
                <a:solidFill>
                  <a:srgbClr val="CBD5E1"/>
                </a:solidFill>
                <a:latin typeface="Segoe UI"/>
              </a:rPr>
              <a:t>Multi-company employee management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400">
                <a:solidFill>
                  <a:srgbClr val="A78BFA"/>
                </a:solidFill>
                <a:latin typeface="Segoe UI"/>
              </a:rPr>
              <a:t>▸ </a:t>
            </a:r>
            <a:r>
              <a:rPr sz="1400">
                <a:solidFill>
                  <a:srgbClr val="CBD5E1"/>
                </a:solidFill>
                <a:latin typeface="Segoe UI"/>
              </a:rPr>
              <a:t>Event-to-marketing project linking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400">
                <a:solidFill>
                  <a:srgbClr val="A78BFA"/>
                </a:solidFill>
                <a:latin typeface="Segoe UI"/>
              </a:rPr>
              <a:t>▸ </a:t>
            </a:r>
            <a:r>
              <a:rPr sz="1400">
                <a:solidFill>
                  <a:srgbClr val="CBD5E1"/>
                </a:solidFill>
                <a:latin typeface="Segoe UI"/>
              </a:rPr>
              <a:t>Skeleton loading states &amp; keyboard navigation</a:t>
            </a:r>
          </a:p>
        </p:txBody>
      </p:sp>
      <p:pic>
        <p:nvPicPr>
          <p:cNvPr id="5" name="Picture 4" descr="h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188720"/>
            <a:ext cx="5486400" cy="30861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Marketing Module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828800" cy="381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200">
                <a:solidFill>
                  <a:srgbClr val="22C55E"/>
                </a:solidFill>
                <a:latin typeface="Segoe UI"/>
              </a:rPr>
              <a:t>▸ </a:t>
            </a:r>
            <a:r>
              <a:rPr sz="1200">
                <a:solidFill>
                  <a:srgbClr val="CBD5E1"/>
                </a:solidFill>
                <a:latin typeface="Segoe UI"/>
              </a:rPr>
              <a:t>Campaign project management with 8-tab detail view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200">
                <a:solidFill>
                  <a:srgbClr val="22C55E"/>
                </a:solidFill>
                <a:latin typeface="Segoe UI"/>
              </a:rPr>
              <a:t>▸ </a:t>
            </a:r>
            <a:r>
              <a:rPr sz="1200">
                <a:solidFill>
                  <a:srgbClr val="CBD5E1"/>
                </a:solidFill>
                <a:latin typeface="Segoe UI"/>
              </a:rPr>
              <a:t>Multi-company, brand &amp; department project allocation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200">
                <a:solidFill>
                  <a:srgbClr val="22C55E"/>
                </a:solidFill>
                <a:latin typeface="Segoe UI"/>
              </a:rPr>
              <a:t>▸ </a:t>
            </a:r>
            <a:r>
              <a:rPr sz="1200">
                <a:solidFill>
                  <a:srgbClr val="CBD5E1"/>
                </a:solidFill>
                <a:latin typeface="Segoe UI"/>
              </a:rPr>
              <a:t>Budget line tracking with invoice linking &amp; utilization bars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200">
                <a:solidFill>
                  <a:srgbClr val="22C55E"/>
                </a:solidFill>
                <a:latin typeface="Segoe UI"/>
              </a:rPr>
              <a:t>▸ </a:t>
            </a:r>
            <a:r>
              <a:rPr sz="1200">
                <a:solidFill>
                  <a:srgbClr val="CBD5E1"/>
                </a:solidFill>
                <a:latin typeface="Segoe UI"/>
              </a:rPr>
              <a:t>KPI system: targets, progress bars, snapshot history &amp; sparklines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200">
                <a:solidFill>
                  <a:srgbClr val="22C55E"/>
                </a:solidFill>
                <a:latin typeface="Segoe UI"/>
              </a:rPr>
              <a:t>▸ </a:t>
            </a:r>
            <a:r>
              <a:rPr sz="1200">
                <a:solidFill>
                  <a:srgbClr val="CBD5E1"/>
                </a:solidFill>
                <a:latin typeface="Segoe UI"/>
              </a:rPr>
              <a:t>OKR System: Objectives + Key Results with KPI linking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200">
                <a:solidFill>
                  <a:srgbClr val="22C55E"/>
                </a:solidFill>
                <a:latin typeface="Segoe UI"/>
              </a:rPr>
              <a:t>▸ </a:t>
            </a:r>
            <a:r>
              <a:rPr sz="1200">
                <a:solidFill>
                  <a:srgbClr val="CBD5E1"/>
                </a:solidFill>
                <a:latin typeface="Segoe UI"/>
              </a:rPr>
              <a:t>Team management with role assignment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200">
                <a:solidFill>
                  <a:srgbClr val="22C55E"/>
                </a:solidFill>
                <a:latin typeface="Segoe UI"/>
              </a:rPr>
              <a:t>▸ </a:t>
            </a:r>
            <a:r>
              <a:rPr sz="1200">
                <a:solidFill>
                  <a:srgbClr val="CBD5E1"/>
                </a:solidFill>
                <a:latin typeface="Segoe UI"/>
              </a:rPr>
              <a:t>Threaded comments with internal notes toggle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200">
                <a:solidFill>
                  <a:srgbClr val="22C55E"/>
                </a:solidFill>
                <a:latin typeface="Segoe UI"/>
              </a:rPr>
              <a:t>▸ </a:t>
            </a:r>
            <a:r>
              <a:rPr sz="1200">
                <a:solidFill>
                  <a:srgbClr val="CBD5E1"/>
                </a:solidFill>
                <a:latin typeface="Segoe UI"/>
              </a:rPr>
              <a:t>File attachments per project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200">
                <a:solidFill>
                  <a:srgbClr val="22C55E"/>
                </a:solidFill>
                <a:latin typeface="Segoe UI"/>
              </a:rPr>
              <a:t>▸ </a:t>
            </a:r>
            <a:r>
              <a:rPr sz="1200">
                <a:solidFill>
                  <a:srgbClr val="CBD5E1"/>
                </a:solidFill>
                <a:latin typeface="Segoe UI"/>
              </a:rPr>
              <a:t>HR event linking for campaign execution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200">
                <a:solidFill>
                  <a:srgbClr val="22C55E"/>
                </a:solidFill>
                <a:latin typeface="Segoe UI"/>
              </a:rPr>
              <a:t>▸ </a:t>
            </a:r>
            <a:r>
              <a:rPr sz="1200">
                <a:solidFill>
                  <a:srgbClr val="CBD5E1"/>
                </a:solidFill>
                <a:latin typeface="Segoe UI"/>
              </a:rPr>
              <a:t>Approval workflow integration (context approver)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200">
                <a:solidFill>
                  <a:srgbClr val="22C55E"/>
                </a:solidFill>
                <a:latin typeface="Segoe UI"/>
              </a:rPr>
              <a:t>▸ </a:t>
            </a:r>
            <a:r>
              <a:rPr sz="1200">
                <a:solidFill>
                  <a:srgbClr val="CBD5E1"/>
                </a:solidFill>
                <a:latin typeface="Segoe UI"/>
              </a:rPr>
              <a:t>Dashboard: stat cards, Budget by Channel, KPI Scoreboard matrix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200">
                <a:solidFill>
                  <a:srgbClr val="22C55E"/>
                </a:solidFill>
                <a:latin typeface="Segoe UI"/>
              </a:rPr>
              <a:t>▸ </a:t>
            </a:r>
            <a:r>
              <a:rPr sz="1200">
                <a:solidFill>
                  <a:srgbClr val="CBD5E1"/>
                </a:solidFill>
                <a:latin typeface="Segoe UI"/>
              </a:rPr>
              <a:t>Reports: Budget vs Actual, Channel Performance, CSV export</a:t>
            </a:r>
          </a:p>
        </p:txBody>
      </p:sp>
      <p:pic>
        <p:nvPicPr>
          <p:cNvPr id="5" name="Picture 4" descr="market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188720"/>
            <a:ext cx="5486400" cy="30861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DMS Module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828800" cy="381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F4444"/>
                </a:solidFill>
                <a:latin typeface="Segoe UI"/>
              </a:defRPr>
            </a:pPr>
            <a:r>
              <a:t>Document 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50292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300">
                <a:solidFill>
                  <a:srgbClr val="EF4444"/>
                </a:solidFill>
                <a:latin typeface="Segoe UI"/>
              </a:rPr>
              <a:t>▸ </a:t>
            </a:r>
            <a:r>
              <a:rPr sz="1300">
                <a:solidFill>
                  <a:srgbClr val="CBD5E1"/>
                </a:solidFill>
                <a:latin typeface="Segoe UI"/>
              </a:rPr>
              <a:t>Category &amp; subcategory system with role-based visibility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300">
                <a:solidFill>
                  <a:srgbClr val="EF4444"/>
                </a:solidFill>
                <a:latin typeface="Segoe UI"/>
              </a:rPr>
              <a:t>▸ </a:t>
            </a:r>
            <a:r>
              <a:rPr sz="1300">
                <a:solidFill>
                  <a:srgbClr val="CBD5E1"/>
                </a:solidFill>
                <a:latin typeface="Segoe UI"/>
              </a:rPr>
              <a:t>File upload (PDF, DOCX, images) with version tracking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300">
                <a:solidFill>
                  <a:srgbClr val="EF4444"/>
                </a:solidFill>
                <a:latin typeface="Segoe UI"/>
              </a:rPr>
              <a:t>▸ </a:t>
            </a:r>
            <a:r>
              <a:rPr sz="1300">
                <a:solidFill>
                  <a:srgbClr val="CBD5E1"/>
                </a:solidFill>
                <a:latin typeface="Segoe UI"/>
              </a:rPr>
              <a:t>Document expiry tracking with color-coded alerts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300">
                <a:solidFill>
                  <a:srgbClr val="EF4444"/>
                </a:solidFill>
                <a:latin typeface="Segoe UI"/>
              </a:rPr>
              <a:t>▸ </a:t>
            </a:r>
            <a:r>
              <a:rPr sz="1300">
                <a:solidFill>
                  <a:srgbClr val="CBD5E1"/>
                </a:solidFill>
                <a:latin typeface="Segoe UI"/>
              </a:rPr>
              <a:t>Parent-child relationships with dynamic link types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300">
                <a:solidFill>
                  <a:srgbClr val="EF4444"/>
                </a:solidFill>
                <a:latin typeface="Segoe UI"/>
              </a:rPr>
              <a:t>▸ </a:t>
            </a:r>
            <a:r>
              <a:rPr sz="1300">
                <a:solidFill>
                  <a:srgbClr val="CBD5E1"/>
                </a:solidFill>
                <a:latin typeface="Segoe UI"/>
              </a:rPr>
              <a:t>Master supplier management with 3-source suggest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300">
                <a:solidFill>
                  <a:srgbClr val="EF4444"/>
                </a:solidFill>
                <a:latin typeface="Segoe UI"/>
              </a:rPr>
              <a:t>▸ </a:t>
            </a:r>
            <a:r>
              <a:rPr sz="1300">
                <a:solidFill>
                  <a:srgbClr val="CBD5E1"/>
                </a:solidFill>
                <a:latin typeface="Segoe UI"/>
              </a:rPr>
              <a:t>Party mapping: document-to-supplier inline CRUD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300">
                <a:solidFill>
                  <a:srgbClr val="EF4444"/>
                </a:solidFill>
                <a:latin typeface="Segoe UI"/>
              </a:rPr>
              <a:t>▸ </a:t>
            </a:r>
            <a:r>
              <a:rPr sz="1300">
                <a:solidFill>
                  <a:srgbClr val="CBD5E1"/>
                </a:solidFill>
                <a:latin typeface="Segoe UI"/>
              </a:rPr>
              <a:t>Tag support with category-level permissions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3891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8BDF8"/>
                </a:solidFill>
                <a:latin typeface="Segoe UI"/>
              </a:defRPr>
            </a:pPr>
            <a:r>
              <a:t>Intelligence Layer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846320"/>
            <a:ext cx="5029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300">
                <a:solidFill>
                  <a:srgbClr val="38BDF8"/>
                </a:solidFill>
                <a:latin typeface="Segoe UI"/>
              </a:rPr>
              <a:t>▸ </a:t>
            </a:r>
            <a:r>
              <a:rPr sz="1300">
                <a:solidFill>
                  <a:srgbClr val="CBD5E1"/>
                </a:solidFill>
                <a:latin typeface="Segoe UI"/>
              </a:rPr>
              <a:t>Signature management (manual mode, 5 status columns)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300">
                <a:solidFill>
                  <a:srgbClr val="38BDF8"/>
                </a:solidFill>
                <a:latin typeface="Segoe UI"/>
              </a:rPr>
              <a:t>▸ </a:t>
            </a:r>
            <a:r>
              <a:rPr sz="1300">
                <a:solidFill>
                  <a:srgbClr val="CBD5E1"/>
                </a:solidFill>
                <a:latin typeface="Segoe UI"/>
              </a:rPr>
              <a:t>Google Drive sync per category with auto-folder structure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300">
                <a:solidFill>
                  <a:srgbClr val="38BDF8"/>
                </a:solidFill>
                <a:latin typeface="Segoe UI"/>
              </a:rPr>
              <a:t>▸ </a:t>
            </a:r>
            <a:r>
              <a:rPr sz="1300">
                <a:solidFill>
                  <a:srgbClr val="CBD5E1"/>
                </a:solidFill>
                <a:latin typeface="Segoe UI"/>
              </a:rPr>
              <a:t>WML extraction from DOCX with heading-aware chunking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300">
                <a:solidFill>
                  <a:srgbClr val="38BDF8"/>
                </a:solidFill>
                <a:latin typeface="Segoe UI"/>
              </a:rPr>
              <a:t>▸ </a:t>
            </a:r>
            <a:r>
              <a:rPr sz="1300">
                <a:solidFill>
                  <a:srgbClr val="CBD5E1"/>
                </a:solidFill>
                <a:latin typeface="Segoe UI"/>
              </a:rPr>
              <a:t>RAG search: keyword + full-text chunk search (4 AI tools)</a:t>
            </a:r>
          </a:p>
        </p:txBody>
      </p:sp>
      <p:pic>
        <p:nvPicPr>
          <p:cNvPr id="8" name="Picture 7" descr="dm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188720"/>
            <a:ext cx="5486400" cy="3163824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AI Agent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828800" cy="381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8BDF8"/>
                </a:solidFill>
                <a:latin typeface="Segoe UI"/>
              </a:defRPr>
            </a:pPr>
            <a:r>
              <a:t>4 LLM Providers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300">
                <a:solidFill>
                  <a:srgbClr val="38BDF8"/>
                </a:solidFill>
                <a:latin typeface="Segoe UI"/>
              </a:rPr>
              <a:t>▸ </a:t>
            </a:r>
            <a:r>
              <a:rPr sz="1300">
                <a:solidFill>
                  <a:srgbClr val="CBD5E1"/>
                </a:solidFill>
                <a:latin typeface="Segoe UI"/>
              </a:rPr>
              <a:t>Claude (Anthropic) — Primary, vision-capable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300">
                <a:solidFill>
                  <a:srgbClr val="38BDF8"/>
                </a:solidFill>
                <a:latin typeface="Segoe UI"/>
              </a:rPr>
              <a:t>▸ </a:t>
            </a:r>
            <a:r>
              <a:rPr sz="1300">
                <a:solidFill>
                  <a:srgbClr val="CBD5E1"/>
                </a:solidFill>
                <a:latin typeface="Segoe UI"/>
              </a:rPr>
              <a:t>GPT-4 (OpenAI) — Alternative reasoning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300">
                <a:solidFill>
                  <a:srgbClr val="38BDF8"/>
                </a:solidFill>
                <a:latin typeface="Segoe UI"/>
              </a:rPr>
              <a:t>▸ </a:t>
            </a:r>
            <a:r>
              <a:rPr sz="1300">
                <a:solidFill>
                  <a:srgbClr val="CBD5E1"/>
                </a:solidFill>
                <a:latin typeface="Segoe UI"/>
              </a:rPr>
              <a:t>LLaMA (Groq) — Fast inference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300">
                <a:solidFill>
                  <a:srgbClr val="38BDF8"/>
                </a:solidFill>
                <a:latin typeface="Segoe UI"/>
              </a:rPr>
              <a:t>▸ </a:t>
            </a:r>
            <a:r>
              <a:rPr sz="1300">
                <a:solidFill>
                  <a:srgbClr val="CBD5E1"/>
                </a:solidFill>
                <a:latin typeface="Segoe UI"/>
              </a:rPr>
              <a:t>Gemini (Google) — Multi-modal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2004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2C55E"/>
                </a:solidFill>
                <a:latin typeface="Segoe UI"/>
              </a:defRPr>
            </a:pPr>
            <a:r>
              <a:t>RAG: 9 Data Sources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65760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300">
                <a:solidFill>
                  <a:srgbClr val="22C55E"/>
                </a:solidFill>
                <a:latin typeface="Segoe UI"/>
              </a:rPr>
              <a:t>▸ </a:t>
            </a:r>
            <a:r>
              <a:rPr sz="1300">
                <a:solidFill>
                  <a:srgbClr val="CBD5E1"/>
                </a:solidFill>
                <a:latin typeface="Segoe UI"/>
              </a:rPr>
              <a:t>Invoices, Companies, Departments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300">
                <a:solidFill>
                  <a:srgbClr val="22C55E"/>
                </a:solidFill>
                <a:latin typeface="Segoe UI"/>
              </a:rPr>
              <a:t>▸ </a:t>
            </a:r>
            <a:r>
              <a:rPr sz="1300">
                <a:solidFill>
                  <a:srgbClr val="CBD5E1"/>
                </a:solidFill>
                <a:latin typeface="Segoe UI"/>
              </a:rPr>
              <a:t>Employees, Transactions, CRM Deals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300">
                <a:solidFill>
                  <a:srgbClr val="22C55E"/>
                </a:solidFill>
                <a:latin typeface="Segoe UI"/>
              </a:rPr>
              <a:t>▸ </a:t>
            </a:r>
            <a:r>
              <a:rPr sz="1300">
                <a:solidFill>
                  <a:srgbClr val="CBD5E1"/>
                </a:solidFill>
                <a:latin typeface="Segoe UI"/>
              </a:rPr>
              <a:t>e-Factura records, HR Events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300">
                <a:solidFill>
                  <a:srgbClr val="22C55E"/>
                </a:solidFill>
                <a:latin typeface="Segoe UI"/>
              </a:rPr>
              <a:t>▸ </a:t>
            </a:r>
            <a:r>
              <a:rPr sz="1300">
                <a:solidFill>
                  <a:srgbClr val="CBD5E1"/>
                </a:solidFill>
                <a:latin typeface="Segoe UI"/>
              </a:rPr>
              <a:t>DMS Document Chunks (WML + FTS)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3716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59E0B"/>
                </a:solidFill>
                <a:latin typeface="Segoe UI"/>
              </a:defRPr>
            </a:pPr>
            <a:r>
              <a:t>Key Capabilities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82880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300">
                <a:solidFill>
                  <a:srgbClr val="F59E0B"/>
                </a:solidFill>
                <a:latin typeface="Segoe UI"/>
              </a:rPr>
              <a:t>▸ </a:t>
            </a:r>
            <a:r>
              <a:rPr sz="1300">
                <a:solidFill>
                  <a:srgbClr val="CBD5E1"/>
                </a:solidFill>
                <a:latin typeface="Segoe UI"/>
              </a:rPr>
              <a:t>SSE streaming for real-time responses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300">
                <a:solidFill>
                  <a:srgbClr val="F59E0B"/>
                </a:solidFill>
                <a:latin typeface="Segoe UI"/>
              </a:rPr>
              <a:t>▸ </a:t>
            </a:r>
            <a:r>
              <a:rPr sz="1300">
                <a:solidFill>
                  <a:srgbClr val="CBD5E1"/>
                </a:solidFill>
                <a:latin typeface="Segoe UI"/>
              </a:rPr>
              <a:t>24 callable tools (search, create, update, export, CRM, DMS...)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300">
                <a:solidFill>
                  <a:srgbClr val="F59E0B"/>
                </a:solidFill>
                <a:latin typeface="Segoe UI"/>
              </a:rPr>
              <a:t>▸ </a:t>
            </a:r>
            <a:r>
              <a:rPr sz="1300">
                <a:solidFill>
                  <a:srgbClr val="CBD5E1"/>
                </a:solidFill>
                <a:latin typeface="Segoe UI"/>
              </a:rPr>
              <a:t>Page context awareness — AI knows which page you're on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300">
                <a:solidFill>
                  <a:srgbClr val="F59E0B"/>
                </a:solidFill>
                <a:latin typeface="Segoe UI"/>
              </a:rPr>
              <a:t>▸ </a:t>
            </a:r>
            <a:r>
              <a:rPr sz="1300">
                <a:solidFill>
                  <a:srgbClr val="CBD5E1"/>
                </a:solidFill>
                <a:latin typeface="Segoe UI"/>
              </a:rPr>
              <a:t>Invoice/transaction/CRM/DMS analytics with markdown tables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300">
                <a:solidFill>
                  <a:srgbClr val="F59E0B"/>
                </a:solidFill>
                <a:latin typeface="Segoe UI"/>
              </a:rPr>
              <a:t>▸ </a:t>
            </a:r>
            <a:r>
              <a:rPr sz="1300">
                <a:solidFill>
                  <a:srgbClr val="CBD5E1"/>
                </a:solidFill>
                <a:latin typeface="Segoe UI"/>
              </a:rPr>
              <a:t>Smart Alerts: KPI thresholds, budget utilization,
  invoice anomalies, e-Factura backlog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300">
                <a:solidFill>
                  <a:srgbClr val="F59E0B"/>
                </a:solidFill>
                <a:latin typeface="Segoe UI"/>
              </a:rPr>
              <a:t>▸ </a:t>
            </a:r>
            <a:r>
              <a:rPr sz="1300">
                <a:solidFill>
                  <a:srgbClr val="CBD5E1"/>
                </a:solidFill>
                <a:latin typeface="Segoe UI"/>
              </a:rPr>
              <a:t>Automated daily digest emails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300">
                <a:solidFill>
                  <a:srgbClr val="F59E0B"/>
                </a:solidFill>
                <a:latin typeface="Segoe UI"/>
              </a:rPr>
              <a:t>▸ </a:t>
            </a:r>
            <a:r>
              <a:rPr sz="1300">
                <a:solidFill>
                  <a:srgbClr val="CBD5E1"/>
                </a:solidFill>
                <a:latin typeface="Segoe UI"/>
              </a:rPr>
              <a:t>AI tag suggestions for entities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300">
                <a:solidFill>
                  <a:srgbClr val="F59E0B"/>
                </a:solidFill>
                <a:latin typeface="Segoe UI"/>
              </a:rPr>
              <a:t>▸ </a:t>
            </a:r>
            <a:r>
              <a:rPr sz="1300">
                <a:solidFill>
                  <a:srgbClr val="CBD5E1"/>
                </a:solidFill>
                <a:latin typeface="Segoe UI"/>
              </a:rPr>
              <a:t>AI KR suggestions for OKR objectives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300">
                <a:solidFill>
                  <a:srgbClr val="F59E0B"/>
                </a:solidFill>
                <a:latin typeface="Segoe UI"/>
              </a:rPr>
              <a:t>▸ </a:t>
            </a:r>
            <a:r>
              <a:rPr sz="1300">
                <a:solidFill>
                  <a:srgbClr val="CBD5E1"/>
                </a:solidFill>
                <a:latin typeface="Segoe UI"/>
              </a:rPr>
              <a:t>Multi-provider embeddings with batch indexing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300">
                <a:solidFill>
                  <a:srgbClr val="F59E0B"/>
                </a:solidFill>
                <a:latin typeface="Segoe UI"/>
              </a:rPr>
              <a:t>▸ </a:t>
            </a:r>
            <a:r>
              <a:rPr sz="1300">
                <a:solidFill>
                  <a:srgbClr val="CBD5E1"/>
                </a:solidFill>
                <a:latin typeface="Segoe UI"/>
              </a:rPr>
              <a:t>Per-provider model selection in Settings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Approval Engine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828800" cy="381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59E0B"/>
                </a:solidFill>
                <a:latin typeface="Segoe UI"/>
              </a:defRPr>
            </a:pPr>
            <a:r>
              <a:t>Workflow Features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300">
                <a:solidFill>
                  <a:srgbClr val="F59E0B"/>
                </a:solidFill>
                <a:latin typeface="Segoe UI"/>
              </a:rPr>
              <a:t>▸ </a:t>
            </a:r>
            <a:r>
              <a:rPr sz="1300">
                <a:solidFill>
                  <a:srgbClr val="CBD5E1"/>
                </a:solidFill>
                <a:latin typeface="Segoe UI"/>
              </a:rPr>
              <a:t>Multi-step approval flows with conditions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300">
                <a:solidFill>
                  <a:srgbClr val="F59E0B"/>
                </a:solidFill>
                <a:latin typeface="Segoe UI"/>
              </a:rPr>
              <a:t>▸ </a:t>
            </a:r>
            <a:r>
              <a:rPr sz="1300">
                <a:solidFill>
                  <a:srgbClr val="CBD5E1"/>
                </a:solidFill>
                <a:latin typeface="Segoe UI"/>
              </a:rPr>
              <a:t>10 condition operators (gte, lt, eq, in, contains...)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300">
                <a:solidFill>
                  <a:srgbClr val="F59E0B"/>
                </a:solidFill>
                <a:latin typeface="Segoe UI"/>
              </a:rPr>
              <a:t>▸ </a:t>
            </a:r>
            <a:r>
              <a:rPr sz="1300">
                <a:solidFill>
                  <a:srgbClr val="CBD5E1"/>
                </a:solidFill>
                <a:latin typeface="Segoe UI"/>
              </a:rPr>
              <a:t>4 approver types: user, role, dept. manager, context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300">
                <a:solidFill>
                  <a:srgbClr val="F59E0B"/>
                </a:solidFill>
                <a:latin typeface="Segoe UI"/>
              </a:rPr>
              <a:t>▸ </a:t>
            </a:r>
            <a:r>
              <a:rPr sz="1300">
                <a:solidFill>
                  <a:srgbClr val="CBD5E1"/>
                </a:solidFill>
                <a:latin typeface="Segoe UI"/>
              </a:rPr>
              <a:t>Escalation &amp; timeout handling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300">
                <a:solidFill>
                  <a:srgbClr val="F59E0B"/>
                </a:solidFill>
                <a:latin typeface="Segoe UI"/>
              </a:rPr>
              <a:t>▸ </a:t>
            </a:r>
            <a:r>
              <a:rPr sz="1300">
                <a:solidFill>
                  <a:srgbClr val="CBD5E1"/>
                </a:solidFill>
                <a:latin typeface="Segoe UI"/>
              </a:rPr>
              <a:t>Delegation with date ranges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300">
                <a:solidFill>
                  <a:srgbClr val="F59E0B"/>
                </a:solidFill>
                <a:latin typeface="Segoe UI"/>
              </a:rPr>
              <a:t>▸ </a:t>
            </a:r>
            <a:r>
              <a:rPr sz="1300">
                <a:solidFill>
                  <a:srgbClr val="CBD5E1"/>
                </a:solidFill>
                <a:latin typeface="Segoe UI"/>
              </a:rPr>
              <a:t>Full audit trail per request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300">
                <a:solidFill>
                  <a:srgbClr val="F59E0B"/>
                </a:solidFill>
                <a:latin typeface="Segoe UI"/>
              </a:rPr>
              <a:t>▸ </a:t>
            </a:r>
            <a:r>
              <a:rPr sz="1300">
                <a:solidFill>
                  <a:srgbClr val="CBD5E1"/>
                </a:solidFill>
                <a:latin typeface="Segoe UI"/>
              </a:rPr>
              <a:t>Configurable in Settings → Flow Builder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300">
                <a:solidFill>
                  <a:srgbClr val="F59E0B"/>
                </a:solidFill>
                <a:latin typeface="Segoe UI"/>
              </a:rPr>
              <a:t>▸ </a:t>
            </a:r>
            <a:r>
              <a:rPr sz="1300">
                <a:solidFill>
                  <a:srgbClr val="CBD5E1"/>
                </a:solidFill>
                <a:latin typeface="Segoe UI"/>
              </a:rPr>
              <a:t>49 automated tests, zero known issues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3716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8BDF8"/>
                </a:solidFill>
                <a:latin typeface="Segoe UI"/>
              </a:defRPr>
            </a:pPr>
            <a:r>
              <a:t>User Experience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828800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300">
                <a:solidFill>
                  <a:srgbClr val="38BDF8"/>
                </a:solidFill>
                <a:latin typeface="Segoe UI"/>
              </a:rPr>
              <a:t>▸ </a:t>
            </a:r>
            <a:r>
              <a:rPr sz="1300">
                <a:solidFill>
                  <a:srgbClr val="CBD5E1"/>
                </a:solidFill>
                <a:latin typeface="Segoe UI"/>
              </a:rPr>
              <a:t>Approval queue with pending count badge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300">
                <a:solidFill>
                  <a:srgbClr val="38BDF8"/>
                </a:solidFill>
                <a:latin typeface="Segoe UI"/>
              </a:rPr>
              <a:t>▸ </a:t>
            </a:r>
            <a:r>
              <a:rPr sz="1300">
                <a:solidFill>
                  <a:srgbClr val="CBD5E1"/>
                </a:solidFill>
                <a:latin typeface="Segoe UI"/>
              </a:rPr>
              <a:t>Quick approve / reject from list view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300">
                <a:solidFill>
                  <a:srgbClr val="38BDF8"/>
                </a:solidFill>
                <a:latin typeface="Segoe UI"/>
              </a:rPr>
              <a:t>▸ </a:t>
            </a:r>
            <a:r>
              <a:rPr sz="1300">
                <a:solidFill>
                  <a:srgbClr val="CBD5E1"/>
                </a:solidFill>
                <a:latin typeface="Segoe UI"/>
              </a:rPr>
              <a:t>Detail dialog: context, steps, decisions, audit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300">
                <a:solidFill>
                  <a:srgbClr val="38BDF8"/>
                </a:solidFill>
                <a:latin typeface="Segoe UI"/>
              </a:rPr>
              <a:t>▸ </a:t>
            </a:r>
            <a:r>
              <a:rPr sz="1300">
                <a:solidFill>
                  <a:srgbClr val="CBD5E1"/>
                </a:solidFill>
                <a:latin typeface="Segoe UI"/>
              </a:rPr>
              <a:t>Entity widget: shows approval status inline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300">
                <a:solidFill>
                  <a:srgbClr val="38BDF8"/>
                </a:solidFill>
                <a:latin typeface="Segoe UI"/>
              </a:rPr>
              <a:t>▸ </a:t>
            </a:r>
            <a:r>
              <a:rPr sz="1300">
                <a:solidFill>
                  <a:srgbClr val="CBD5E1"/>
                </a:solidFill>
                <a:latin typeface="Segoe UI"/>
              </a:rPr>
              <a:t>Integrated into: Invoices, e-Factura, Marketing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300">
                <a:solidFill>
                  <a:srgbClr val="38BDF8"/>
                </a:solidFill>
                <a:latin typeface="Segoe UI"/>
              </a:rPr>
              <a:t>▸ </a:t>
            </a:r>
            <a:r>
              <a:rPr sz="1300">
                <a:solidFill>
                  <a:srgbClr val="CBD5E1"/>
                </a:solidFill>
                <a:latin typeface="Segoe UI"/>
              </a:rPr>
              <a:t>Real-time notifications on status changes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300">
                <a:solidFill>
                  <a:srgbClr val="38BDF8"/>
                </a:solidFill>
                <a:latin typeface="Segoe UI"/>
              </a:rPr>
              <a:t>▸ </a:t>
            </a:r>
            <a:r>
              <a:rPr sz="1300">
                <a:solidFill>
                  <a:srgbClr val="CBD5E1"/>
                </a:solidFill>
                <a:latin typeface="Segoe UI"/>
              </a:rPr>
              <a:t>Delegation management tab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300">
                <a:solidFill>
                  <a:srgbClr val="38BDF8"/>
                </a:solidFill>
                <a:latin typeface="Segoe UI"/>
              </a:rPr>
              <a:t>▸ </a:t>
            </a:r>
            <a:r>
              <a:rPr sz="1300">
                <a:solidFill>
                  <a:srgbClr val="CBD5E1"/>
                </a:solidFill>
                <a:latin typeface="Segoe UI"/>
              </a:rPr>
              <a:t>Hourly scheduler: timeouts, reminders, expiry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3035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  <a:latin typeface="Segoe UI"/>
              </a:defRPr>
            </a:pPr>
            <a:r>
              <a:t>Submit  →  Step 1 (Conditions)  →  Step 2 (Escalation)  →  Approved / Rejected  →  Notification + Hook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Tags &amp; Notification Center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828800" cy="3810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A78BFA"/>
                </a:solidFill>
                <a:latin typeface="Segoe UI"/>
              </a:defRPr>
            </a:pPr>
            <a:r>
              <a:t>Smart Tagging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300">
                <a:solidFill>
                  <a:srgbClr val="A78BFA"/>
                </a:solidFill>
                <a:latin typeface="Segoe UI"/>
              </a:rPr>
              <a:t>▸ </a:t>
            </a:r>
            <a:r>
              <a:rPr sz="1300">
                <a:solidFill>
                  <a:srgbClr val="CBD5E1"/>
                </a:solidFill>
                <a:latin typeface="Segoe UI"/>
              </a:rPr>
              <a:t>Global (admin) + private (user) tags with groups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300">
                <a:solidFill>
                  <a:srgbClr val="A78BFA"/>
                </a:solidFill>
                <a:latin typeface="Segoe UI"/>
              </a:rPr>
              <a:t>▸ </a:t>
            </a:r>
            <a:r>
              <a:rPr sz="1300">
                <a:solidFill>
                  <a:srgbClr val="CBD5E1"/>
                </a:solidFill>
                <a:latin typeface="Segoe UI"/>
              </a:rPr>
              <a:t>6 entity types: invoices, e-Factura, transactions,
  employees, events, marketing projects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300">
                <a:solidFill>
                  <a:srgbClr val="A78BFA"/>
                </a:solidFill>
                <a:latin typeface="Segoe UI"/>
              </a:rPr>
              <a:t>▸ </a:t>
            </a:r>
            <a:r>
              <a:rPr sz="1300">
                <a:solidFill>
                  <a:srgbClr val="CBD5E1"/>
                </a:solidFill>
                <a:latin typeface="Segoe UI"/>
              </a:rPr>
              <a:t>Auto-tag rules: condition builder with 11 operators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300">
                <a:solidFill>
                  <a:srgbClr val="A78BFA"/>
                </a:solidFill>
                <a:latin typeface="Segoe UI"/>
              </a:rPr>
              <a:t>▸ </a:t>
            </a:r>
            <a:r>
              <a:rPr sz="1300">
                <a:solidFill>
                  <a:srgbClr val="CBD5E1"/>
                </a:solidFill>
                <a:latin typeface="Segoe UI"/>
              </a:rPr>
              <a:t>"Run Now" to apply rules to existing entities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300">
                <a:solidFill>
                  <a:srgbClr val="A78BFA"/>
                </a:solidFill>
                <a:latin typeface="Segoe UI"/>
              </a:rPr>
              <a:t>▸ </a:t>
            </a:r>
            <a:r>
              <a:rPr sz="1300">
                <a:solidFill>
                  <a:srgbClr val="CBD5E1"/>
                </a:solidFill>
                <a:latin typeface="Segoe UI"/>
              </a:rPr>
              <a:t>AI Suggest: LLM-powered tag recommendations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300">
                <a:solidFill>
                  <a:srgbClr val="A78BFA"/>
                </a:solidFill>
                <a:latin typeface="Segoe UI"/>
              </a:rPr>
              <a:t>▸ </a:t>
            </a:r>
            <a:r>
              <a:rPr sz="1300">
                <a:solidFill>
                  <a:srgbClr val="CBD5E1"/>
                </a:solidFill>
                <a:latin typeface="Segoe UI"/>
              </a:rPr>
              <a:t>Tag filters on all major pages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300">
                <a:solidFill>
                  <a:srgbClr val="A78BFA"/>
                </a:solidFill>
                <a:latin typeface="Segoe UI"/>
              </a:rPr>
              <a:t>▸ </a:t>
            </a:r>
            <a:r>
              <a:rPr sz="1300">
                <a:solidFill>
                  <a:srgbClr val="CBD5E1"/>
                </a:solidFill>
                <a:latin typeface="Segoe UI"/>
              </a:rPr>
              <a:t>Integrated with filter presets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3716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F4444"/>
                </a:solidFill>
                <a:latin typeface="Segoe UI"/>
              </a:defRPr>
            </a:pPr>
            <a:r>
              <a:t>Notification Center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828800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300">
                <a:solidFill>
                  <a:srgbClr val="EF4444"/>
                </a:solidFill>
                <a:latin typeface="Segoe UI"/>
              </a:rPr>
              <a:t>▸ </a:t>
            </a:r>
            <a:r>
              <a:rPr sz="1300">
                <a:solidFill>
                  <a:srgbClr val="CBD5E1"/>
                </a:solidFill>
                <a:latin typeface="Segoe UI"/>
              </a:rPr>
              <a:t>In-app notifications with unread badge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300">
                <a:solidFill>
                  <a:srgbClr val="EF4444"/>
                </a:solidFill>
                <a:latin typeface="Segoe UI"/>
              </a:rPr>
              <a:t>▸ </a:t>
            </a:r>
            <a:r>
              <a:rPr sz="1300">
                <a:solidFill>
                  <a:srgbClr val="CBD5E1"/>
                </a:solidFill>
                <a:latin typeface="Segoe UI"/>
              </a:rPr>
              <a:t>Real-time polling (every 30 seconds)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300">
                <a:solidFill>
                  <a:srgbClr val="EF4444"/>
                </a:solidFill>
                <a:latin typeface="Segoe UI"/>
              </a:rPr>
              <a:t>▸ </a:t>
            </a:r>
            <a:r>
              <a:rPr sz="1300">
                <a:solidFill>
                  <a:srgbClr val="CBD5E1"/>
                </a:solidFill>
                <a:latin typeface="Segoe UI"/>
              </a:rPr>
              <a:t>Bell icon popover with scrollable list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300">
                <a:solidFill>
                  <a:srgbClr val="EF4444"/>
                </a:solidFill>
                <a:latin typeface="Segoe UI"/>
              </a:rPr>
              <a:t>▸ </a:t>
            </a:r>
            <a:r>
              <a:rPr sz="1300">
                <a:solidFill>
                  <a:srgbClr val="CBD5E1"/>
                </a:solidFill>
                <a:latin typeface="Segoe UI"/>
              </a:rPr>
              <a:t>Click-to-navigate to linked entity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300">
                <a:solidFill>
                  <a:srgbClr val="EF4444"/>
                </a:solidFill>
                <a:latin typeface="Segoe UI"/>
              </a:rPr>
              <a:t>▸ </a:t>
            </a:r>
            <a:r>
              <a:rPr sz="1300">
                <a:solidFill>
                  <a:srgbClr val="CBD5E1"/>
                </a:solidFill>
                <a:latin typeface="Segoe UI"/>
              </a:rPr>
              <a:t>Email + in-app for critical events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300">
                <a:solidFill>
                  <a:srgbClr val="EF4444"/>
                </a:solidFill>
                <a:latin typeface="Segoe UI"/>
              </a:rPr>
              <a:t>▸ </a:t>
            </a:r>
            <a:r>
              <a:rPr sz="1300">
                <a:solidFill>
                  <a:srgbClr val="CBD5E1"/>
                </a:solidFill>
                <a:latin typeface="Segoe UI"/>
              </a:rPr>
              <a:t>Approval event notifications (6 types)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300">
                <a:solidFill>
                  <a:srgbClr val="EF4444"/>
                </a:solidFill>
                <a:latin typeface="Segoe UI"/>
              </a:rPr>
              <a:t>▸ </a:t>
            </a:r>
            <a:r>
              <a:rPr sz="1300">
                <a:solidFill>
                  <a:srgbClr val="CBD5E1"/>
                </a:solidFill>
                <a:latin typeface="Segoe UI"/>
              </a:rPr>
              <a:t>Smart alerts: KPI, budget, anomaly, backlog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300">
                <a:solidFill>
                  <a:srgbClr val="EF4444"/>
                </a:solidFill>
                <a:latin typeface="Segoe UI"/>
              </a:rPr>
              <a:t>▸ </a:t>
            </a:r>
            <a:r>
              <a:rPr sz="1300">
                <a:solidFill>
                  <a:srgbClr val="CBD5E1"/>
                </a:solidFill>
                <a:latin typeface="Segoe UI"/>
              </a:rPr>
              <a:t>30-day auto-cleanup via scheduler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Roles &amp; Permissions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828800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8BDF8"/>
                </a:solidFill>
                <a:latin typeface="Segoe UI"/>
              </a:defRPr>
            </a:pPr>
            <a:r>
              <a:t>Permission Model (V2)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400">
                <a:solidFill>
                  <a:srgbClr val="38BDF8"/>
                </a:solidFill>
                <a:latin typeface="Segoe UI"/>
              </a:rPr>
              <a:t>▸ </a:t>
            </a:r>
            <a:r>
              <a:rPr sz="1400">
                <a:solidFill>
                  <a:srgbClr val="CBD5E1"/>
                </a:solidFill>
                <a:latin typeface="Segoe UI"/>
              </a:rPr>
              <a:t>Format: module.entity.action + scope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400">
                <a:solidFill>
                  <a:srgbClr val="38BDF8"/>
                </a:solidFill>
                <a:latin typeface="Segoe UI"/>
              </a:rPr>
              <a:t>▸ </a:t>
            </a:r>
            <a:r>
              <a:rPr sz="1400">
                <a:solidFill>
                  <a:srgbClr val="CBD5E1"/>
                </a:solidFill>
                <a:latin typeface="Segoe UI"/>
              </a:rPr>
              <a:t>Scopes: all | own | department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400">
                <a:solidFill>
                  <a:srgbClr val="38BDF8"/>
                </a:solidFill>
                <a:latin typeface="Segoe UI"/>
              </a:rPr>
              <a:t>▸ </a:t>
            </a:r>
            <a:r>
              <a:rPr sz="1400">
                <a:solidFill>
                  <a:srgbClr val="CBD5E1"/>
                </a:solidFill>
                <a:latin typeface="Segoe UI"/>
              </a:rPr>
              <a:t>Modules: accounting, hr, marketing, ai, approvals, tags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400">
                <a:solidFill>
                  <a:srgbClr val="38BDF8"/>
                </a:solidFill>
                <a:latin typeface="Segoe UI"/>
              </a:rPr>
              <a:t>▸ </a:t>
            </a:r>
            <a:r>
              <a:rPr sz="1400">
                <a:solidFill>
                  <a:srgbClr val="CBD5E1"/>
                </a:solidFill>
                <a:latin typeface="Segoe UI"/>
              </a:rPr>
              <a:t>Actions: view, create, edit, delete, export, manage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400">
                <a:solidFill>
                  <a:srgbClr val="38BDF8"/>
                </a:solidFill>
                <a:latin typeface="Segoe UI"/>
              </a:rPr>
              <a:t>▸ </a:t>
            </a:r>
            <a:r>
              <a:rPr sz="1400">
                <a:solidFill>
                  <a:srgbClr val="CBD5E1"/>
                </a:solidFill>
                <a:latin typeface="Segoe UI"/>
              </a:rPr>
              <a:t>8 marketing + 8 approval + 7 AI permissions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400">
                <a:solidFill>
                  <a:srgbClr val="38BDF8"/>
                </a:solidFill>
                <a:latin typeface="Segoe UI"/>
              </a:rPr>
              <a:t>▸ </a:t>
            </a:r>
            <a:r>
              <a:rPr sz="1400">
                <a:solidFill>
                  <a:srgbClr val="CBD5E1"/>
                </a:solidFill>
                <a:latin typeface="Segoe UI"/>
              </a:rPr>
              <a:t>Configurable per role in Settings → Roles tab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3716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2C55E"/>
                </a:solidFill>
                <a:latin typeface="Segoe UI"/>
              </a:defRPr>
            </a:pPr>
            <a:r>
              <a:t>Default Roles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82880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400">
                <a:solidFill>
                  <a:srgbClr val="22C55E"/>
                </a:solidFill>
                <a:latin typeface="Segoe UI"/>
              </a:rPr>
              <a:t>▸ </a:t>
            </a:r>
            <a:r>
              <a:rPr sz="1400">
                <a:solidFill>
                  <a:srgbClr val="CBD5E1"/>
                </a:solidFill>
                <a:latin typeface="Segoe UI"/>
              </a:rPr>
              <a:t>Admin — Full access to all modules &amp; settings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400">
                <a:solidFill>
                  <a:srgbClr val="22C55E"/>
                </a:solidFill>
                <a:latin typeface="Segoe UI"/>
              </a:rPr>
              <a:t>▸ </a:t>
            </a:r>
            <a:r>
              <a:rPr sz="1400">
                <a:solidFill>
                  <a:srgbClr val="CBD5E1"/>
                </a:solidFill>
                <a:latin typeface="Segoe UI"/>
              </a:rPr>
              <a:t>Manager — Department-scoped access + approvals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400">
                <a:solidFill>
                  <a:srgbClr val="22C55E"/>
                </a:solidFill>
                <a:latin typeface="Segoe UI"/>
              </a:rPr>
              <a:t>▸ </a:t>
            </a:r>
            <a:r>
              <a:rPr sz="1400">
                <a:solidFill>
                  <a:srgbClr val="CBD5E1"/>
                </a:solidFill>
                <a:latin typeface="Segoe UI"/>
              </a:rPr>
              <a:t>User — Own data access + basic operations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400">
                <a:solidFill>
                  <a:srgbClr val="22C55E"/>
                </a:solidFill>
                <a:latin typeface="Segoe UI"/>
              </a:rPr>
              <a:t>▸ </a:t>
            </a:r>
            <a:r>
              <a:rPr sz="1400">
                <a:solidFill>
                  <a:srgbClr val="CBD5E1"/>
                </a:solidFill>
                <a:latin typeface="Segoe UI"/>
              </a:rPr>
              <a:t>Viewer — Read-only access across modules</a:t>
            </a:r>
          </a:p>
        </p:txBody>
      </p:sp>
      <p:pic>
        <p:nvPicPr>
          <p:cNvPr id="8" name="Picture 7" descr="setting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3657600"/>
            <a:ext cx="487680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User Interface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828800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account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80160"/>
            <a:ext cx="3474720" cy="195453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356616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Accounting</a:t>
            </a:r>
          </a:p>
        </p:txBody>
      </p:sp>
      <p:pic>
        <p:nvPicPr>
          <p:cNvPr id="6" name="Picture 5" descr="cr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6240" y="1280160"/>
            <a:ext cx="3474720" cy="209695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206240" y="356616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CRM</a:t>
            </a:r>
          </a:p>
        </p:txBody>
      </p:sp>
      <p:pic>
        <p:nvPicPr>
          <p:cNvPr id="8" name="Picture 7" descr="efactura-unallocat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55280" y="1280160"/>
            <a:ext cx="3474720" cy="203425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955280" y="356616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e-Factura</a:t>
            </a:r>
          </a:p>
        </p:txBody>
      </p:sp>
      <p:pic>
        <p:nvPicPr>
          <p:cNvPr id="10" name="Picture 9" descr="h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3977640"/>
            <a:ext cx="3474720" cy="195453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626364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HR Events</a:t>
            </a:r>
          </a:p>
        </p:txBody>
      </p:sp>
      <p:pic>
        <p:nvPicPr>
          <p:cNvPr id="12" name="Picture 11" descr="marketing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06240" y="3977640"/>
            <a:ext cx="3474720" cy="195453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206240" y="626364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Marketing</a:t>
            </a:r>
          </a:p>
        </p:txBody>
      </p:sp>
      <p:pic>
        <p:nvPicPr>
          <p:cNvPr id="14" name="Picture 13" descr="dms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55280" y="3977640"/>
            <a:ext cx="3474720" cy="2003755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955280" y="626364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DMS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Key Benefits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828800" cy="381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10515600" cy="7772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173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8BDF8"/>
                </a:solidFill>
                <a:latin typeface="Segoe UI"/>
              </a:defRPr>
            </a:pPr>
            <a:r>
              <a:t>Centralized Operations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7373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Segoe UI"/>
              </a:defRPr>
            </a:pPr>
            <a:r>
              <a:t>Single platform replacing 5+ disconnected tools — accounting, HR, marketing, approvals all in one place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240280"/>
            <a:ext cx="10515600" cy="7772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2860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2C55E"/>
                </a:solidFill>
                <a:latin typeface="Segoe UI"/>
              </a:defRPr>
            </a:pPr>
            <a:r>
              <a:t>AI-Powered Insights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6060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Segoe UI"/>
              </a:defRPr>
            </a:pPr>
            <a:r>
              <a:t>4 LLM providers analyze invoices, detect anomalies, suggest tags, generate reports &amp; daily digests automatically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108960"/>
            <a:ext cx="10515600" cy="7772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1546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59E0B"/>
                </a:solidFill>
                <a:latin typeface="Segoe UI"/>
              </a:defRPr>
            </a:pPr>
            <a:r>
              <a:t>Tax Compliance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4747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Segoe UI"/>
              </a:defRPr>
            </a:pPr>
            <a:r>
              <a:t>Built-in ANAF e-Factura integration ensures Romanian e-invoicing compliance with automated sync &amp; duplicate detection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977640"/>
            <a:ext cx="10515600" cy="7772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40233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A78BFA"/>
                </a:solidFill>
                <a:latin typeface="Segoe UI"/>
              </a:defRPr>
            </a:pPr>
            <a:r>
              <a:t>Process Automation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3434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Segoe UI"/>
              </a:defRPr>
            </a:pPr>
            <a:r>
              <a:t>Configurable approval workflows, auto-tagging rules, smart notifications &amp; scheduled tasks reduce manual work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846320"/>
            <a:ext cx="10515600" cy="7772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48920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8BDF8"/>
                </a:solidFill>
                <a:latin typeface="Segoe UI"/>
              </a:defRPr>
            </a:pPr>
            <a:r>
              <a:t>Multi-Company Support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2120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Segoe UI"/>
              </a:defRPr>
            </a:pPr>
            <a:r>
              <a:t>Manage all AUTOWORLD entities from one dashboard — invoices, budgets &amp; permissions scoped per company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5715000"/>
            <a:ext cx="10515600" cy="7772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57607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2C55E"/>
                </a:solidFill>
                <a:latin typeface="Segoe UI"/>
              </a:defRPr>
            </a:pPr>
            <a:r>
              <a:t>Real-Time Visibility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60807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Segoe UI"/>
              </a:defRPr>
            </a:pPr>
            <a:r>
              <a:t>Live dashboards, KPI tracking with sparklines, budget utilization monitoring &amp; instant notification alerts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Security &amp; Quality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828800" cy="381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F4444"/>
                </a:solidFill>
                <a:latin typeface="Segoe UI"/>
              </a:defRPr>
            </a:pPr>
            <a:r>
              <a:t>Security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300">
                <a:solidFill>
                  <a:srgbClr val="EF4444"/>
                </a:solidFill>
                <a:latin typeface="Segoe UI"/>
              </a:rPr>
              <a:t>▸ </a:t>
            </a:r>
            <a:r>
              <a:rPr sz="1300">
                <a:solidFill>
                  <a:srgbClr val="CBD5E1"/>
                </a:solidFill>
                <a:latin typeface="Segoe UI"/>
              </a:rPr>
              <a:t>Session-based authentication with secure cookies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300">
                <a:solidFill>
                  <a:srgbClr val="EF4444"/>
                </a:solidFill>
                <a:latin typeface="Segoe UI"/>
              </a:rPr>
              <a:t>▸ </a:t>
            </a:r>
            <a:r>
              <a:rPr sz="1300">
                <a:solidFill>
                  <a:srgbClr val="CBD5E1"/>
                </a:solidFill>
                <a:latin typeface="Segoe UI"/>
              </a:rPr>
              <a:t>Password hashing (bcrypt) with reset tokens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300">
                <a:solidFill>
                  <a:srgbClr val="EF4444"/>
                </a:solidFill>
                <a:latin typeface="Segoe UI"/>
              </a:rPr>
              <a:t>▸ </a:t>
            </a:r>
            <a:r>
              <a:rPr sz="1300">
                <a:solidFill>
                  <a:srgbClr val="CBD5E1"/>
                </a:solidFill>
                <a:latin typeface="Segoe UI"/>
              </a:rPr>
              <a:t>Role-based access control (RBAC) with scopes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300">
                <a:solidFill>
                  <a:srgbClr val="EF4444"/>
                </a:solidFill>
                <a:latin typeface="Segoe UI"/>
              </a:rPr>
              <a:t>▸ </a:t>
            </a:r>
            <a:r>
              <a:rPr sz="1300">
                <a:solidFill>
                  <a:srgbClr val="CBD5E1"/>
                </a:solidFill>
                <a:latin typeface="Segoe UI"/>
              </a:rPr>
              <a:t>Permission checks on every API endpoint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300">
                <a:solidFill>
                  <a:srgbClr val="EF4444"/>
                </a:solidFill>
                <a:latin typeface="Segoe UI"/>
              </a:rPr>
              <a:t>▸ </a:t>
            </a:r>
            <a:r>
              <a:rPr sz="1300">
                <a:solidFill>
                  <a:srgbClr val="CBD5E1"/>
                </a:solidFill>
                <a:latin typeface="Segoe UI"/>
              </a:rPr>
              <a:t>CSRF protection on all forms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300">
                <a:solidFill>
                  <a:srgbClr val="EF4444"/>
                </a:solidFill>
                <a:latin typeface="Segoe UI"/>
              </a:rPr>
              <a:t>▸ </a:t>
            </a:r>
            <a:r>
              <a:rPr sz="1300">
                <a:solidFill>
                  <a:srgbClr val="CBD5E1"/>
                </a:solidFill>
                <a:latin typeface="Segoe UI"/>
              </a:rPr>
              <a:t>SQL injection prevention (parameterized queries)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300">
                <a:solidFill>
                  <a:srgbClr val="EF4444"/>
                </a:solidFill>
                <a:latin typeface="Segoe UI"/>
              </a:rPr>
              <a:t>▸ </a:t>
            </a:r>
            <a:r>
              <a:rPr sz="1300">
                <a:solidFill>
                  <a:srgbClr val="CBD5E1"/>
                </a:solidFill>
                <a:latin typeface="Segoe UI"/>
              </a:rPr>
              <a:t>Rate limiting on e-Factura API (150/hr)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3716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2C55E"/>
                </a:solidFill>
                <a:latin typeface="Segoe UI"/>
              </a:defRPr>
            </a:pPr>
            <a:r>
              <a:t>Code Quality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828800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300">
                <a:solidFill>
                  <a:srgbClr val="22C55E"/>
                </a:solidFill>
                <a:latin typeface="Segoe UI"/>
              </a:rPr>
              <a:t>▸ </a:t>
            </a:r>
            <a:r>
              <a:rPr sz="1300">
                <a:solidFill>
                  <a:srgbClr val="CBD5E1"/>
                </a:solidFill>
                <a:latin typeface="Segoe UI"/>
              </a:rPr>
              <a:t>923 automated tests (100% pass rate)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300">
                <a:solidFill>
                  <a:srgbClr val="22C55E"/>
                </a:solidFill>
                <a:latin typeface="Segoe UI"/>
              </a:rPr>
              <a:t>▸ </a:t>
            </a:r>
            <a:r>
              <a:rPr sz="1300">
                <a:solidFill>
                  <a:srgbClr val="CBD5E1"/>
                </a:solidFill>
                <a:latin typeface="Segoe UI"/>
              </a:rPr>
              <a:t>TypeScript strict mode across all frontend code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300">
                <a:solidFill>
                  <a:srgbClr val="22C55E"/>
                </a:solidFill>
                <a:latin typeface="Segoe UI"/>
              </a:rPr>
              <a:t>▸ </a:t>
            </a:r>
            <a:r>
              <a:rPr sz="1300">
                <a:solidFill>
                  <a:srgbClr val="CBD5E1"/>
                </a:solidFill>
                <a:latin typeface="Segoe UI"/>
              </a:rPr>
              <a:t>BaseRepository pattern for consistent data access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300">
                <a:solidFill>
                  <a:srgbClr val="22C55E"/>
                </a:solidFill>
                <a:latin typeface="Segoe UI"/>
              </a:rPr>
              <a:t>▸ </a:t>
            </a:r>
            <a:r>
              <a:rPr sz="1300">
                <a:solidFill>
                  <a:srgbClr val="CBD5E1"/>
                </a:solidFill>
                <a:latin typeface="Segoe UI"/>
              </a:rPr>
              <a:t>Service layer for business logic separation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300">
                <a:solidFill>
                  <a:srgbClr val="22C55E"/>
                </a:solidFill>
                <a:latin typeface="Segoe UI"/>
              </a:rPr>
              <a:t>▸ </a:t>
            </a:r>
            <a:r>
              <a:rPr sz="1300">
                <a:solidFill>
                  <a:srgbClr val="CBD5E1"/>
                </a:solidFill>
                <a:latin typeface="Segoe UI"/>
              </a:rPr>
              <a:t>Comprehensive error handling &amp; validation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300">
                <a:solidFill>
                  <a:srgbClr val="22C55E"/>
                </a:solidFill>
                <a:latin typeface="Segoe UI"/>
              </a:rPr>
              <a:t>▸ </a:t>
            </a:r>
            <a:r>
              <a:rPr sz="1300">
                <a:solidFill>
                  <a:srgbClr val="CBD5E1"/>
                </a:solidFill>
                <a:latin typeface="Segoe UI"/>
              </a:rPr>
              <a:t>90-160ms average response time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300">
                <a:solidFill>
                  <a:srgbClr val="22C55E"/>
                </a:solidFill>
                <a:latin typeface="Segoe UI"/>
              </a:rPr>
              <a:t>▸ </a:t>
            </a:r>
            <a:r>
              <a:rPr sz="1300">
                <a:solidFill>
                  <a:srgbClr val="CBD5E1"/>
                </a:solidFill>
                <a:latin typeface="Segoe UI"/>
              </a:rPr>
              <a:t>Connection pooling with health checks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What's Next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828800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2C55E"/>
                </a:solidFill>
                <a:latin typeface="Segoe UI"/>
              </a:defRPr>
            </a:pPr>
            <a:r>
              <a:t>Completed (Feb 2026)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300">
                <a:solidFill>
                  <a:srgbClr val="22C55E"/>
                </a:solidFill>
                <a:latin typeface="Segoe UI"/>
              </a:rPr>
              <a:t>▸ </a:t>
            </a:r>
            <a:r>
              <a:rPr sz="1300">
                <a:solidFill>
                  <a:srgbClr val="CBD5E1"/>
                </a:solidFill>
                <a:latin typeface="Segoe UI"/>
              </a:rPr>
              <a:t>✅ Full React migration (9 phases)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300">
                <a:solidFill>
                  <a:srgbClr val="22C55E"/>
                </a:solidFill>
                <a:latin typeface="Segoe UI"/>
              </a:rPr>
              <a:t>▸ </a:t>
            </a:r>
            <a:r>
              <a:rPr sz="1300">
                <a:solidFill>
                  <a:srgbClr val="CBD5E1"/>
                </a:solidFill>
                <a:latin typeface="Segoe UI"/>
              </a:rPr>
              <a:t>✅ CRM module: clients, deals, imports, stats, AI tools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300">
                <a:solidFill>
                  <a:srgbClr val="22C55E"/>
                </a:solidFill>
                <a:latin typeface="Segoe UI"/>
              </a:rPr>
              <a:t>▸ </a:t>
            </a:r>
            <a:r>
              <a:rPr sz="1300">
                <a:solidFill>
                  <a:srgbClr val="CBD5E1"/>
                </a:solidFill>
                <a:latin typeface="Segoe UI"/>
              </a:rPr>
              <a:t>✅ AI Agent with 4 providers + RAG + 24 tools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300">
                <a:solidFill>
                  <a:srgbClr val="22C55E"/>
                </a:solidFill>
                <a:latin typeface="Segoe UI"/>
              </a:rPr>
              <a:t>▸ </a:t>
            </a:r>
            <a:r>
              <a:rPr sz="1300">
                <a:solidFill>
                  <a:srgbClr val="CBD5E1"/>
                </a:solidFill>
                <a:latin typeface="Segoe UI"/>
              </a:rPr>
              <a:t>✅ Marketing module (6 phases + OKR + Dashboard)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300">
                <a:solidFill>
                  <a:srgbClr val="22C55E"/>
                </a:solidFill>
                <a:latin typeface="Segoe UI"/>
              </a:rPr>
              <a:t>▸ </a:t>
            </a:r>
            <a:r>
              <a:rPr sz="1300">
                <a:solidFill>
                  <a:srgbClr val="CBD5E1"/>
                </a:solidFill>
                <a:latin typeface="Segoe UI"/>
              </a:rPr>
              <a:t>✅ Approval engine (6 phases + context approver)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300">
                <a:solidFill>
                  <a:srgbClr val="22C55E"/>
                </a:solidFill>
                <a:latin typeface="Segoe UI"/>
              </a:rPr>
              <a:t>▸ </a:t>
            </a:r>
            <a:r>
              <a:rPr sz="1300">
                <a:solidFill>
                  <a:srgbClr val="CBD5E1"/>
                </a:solidFill>
                <a:latin typeface="Segoe UI"/>
              </a:rPr>
              <a:t>✅ DMS: documents, signatures, parties, Drive sync, RAG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300">
                <a:solidFill>
                  <a:srgbClr val="22C55E"/>
                </a:solidFill>
                <a:latin typeface="Segoe UI"/>
              </a:rPr>
              <a:t>▸ </a:t>
            </a:r>
            <a:r>
              <a:rPr sz="1300">
                <a:solidFill>
                  <a:srgbClr val="CBD5E1"/>
                </a:solidFill>
                <a:latin typeface="Segoe UI"/>
              </a:rPr>
              <a:t>✅ Bilant (Balance Sheet) with ANAF XML export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300">
                <a:solidFill>
                  <a:srgbClr val="22C55E"/>
                </a:solidFill>
                <a:latin typeface="Segoe UI"/>
              </a:rPr>
              <a:t>▸ </a:t>
            </a:r>
            <a:r>
              <a:rPr sz="1300">
                <a:solidFill>
                  <a:srgbClr val="CBD5E1"/>
                </a:solidFill>
                <a:latin typeface="Segoe UI"/>
              </a:rPr>
              <a:t>✅ Notification center + smart alerts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300">
                <a:solidFill>
                  <a:srgbClr val="22C55E"/>
                </a:solidFill>
                <a:latin typeface="Segoe UI"/>
              </a:rPr>
              <a:t>▸ </a:t>
            </a:r>
            <a:r>
              <a:rPr sz="1300">
                <a:solidFill>
                  <a:srgbClr val="CBD5E1"/>
                </a:solidFill>
                <a:latin typeface="Segoe UI"/>
              </a:rPr>
              <a:t>✅ Tagging system with AI suggest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3716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59E0B"/>
                </a:solidFill>
                <a:latin typeface="Segoe UI"/>
              </a:defRPr>
            </a:pPr>
            <a:r>
              <a:t>Potential Next Steps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82880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300">
                <a:solidFill>
                  <a:srgbClr val="F59E0B"/>
                </a:solidFill>
                <a:latin typeface="Segoe UI"/>
              </a:rPr>
              <a:t>▸ </a:t>
            </a:r>
            <a:r>
              <a:rPr sz="1300">
                <a:solidFill>
                  <a:srgbClr val="CBD5E1"/>
                </a:solidFill>
                <a:latin typeface="Segoe UI"/>
              </a:rPr>
              <a:t>Frontend test coverage (0% → target 60%+)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300">
                <a:solidFill>
                  <a:srgbClr val="F59E0B"/>
                </a:solidFill>
                <a:latin typeface="Segoe UI"/>
              </a:rPr>
              <a:t>▸ </a:t>
            </a:r>
            <a:r>
              <a:rPr sz="1300">
                <a:solidFill>
                  <a:srgbClr val="CBD5E1"/>
                </a:solidFill>
                <a:latin typeface="Segoe UI"/>
              </a:rPr>
              <a:t>Marketing module test coverage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300">
                <a:solidFill>
                  <a:srgbClr val="F59E0B"/>
                </a:solidFill>
                <a:latin typeface="Segoe UI"/>
              </a:rPr>
              <a:t>▸ </a:t>
            </a:r>
            <a:r>
              <a:rPr sz="1300">
                <a:solidFill>
                  <a:srgbClr val="CBD5E1"/>
                </a:solidFill>
                <a:latin typeface="Segoe UI"/>
              </a:rPr>
              <a:t>Security hardening (CSP, HSTS, X-Frame-Options)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300">
                <a:solidFill>
                  <a:srgbClr val="F59E0B"/>
                </a:solidFill>
                <a:latin typeface="Segoe UI"/>
              </a:rPr>
              <a:t>▸ </a:t>
            </a:r>
            <a:r>
              <a:rPr sz="1300">
                <a:solidFill>
                  <a:srgbClr val="CBD5E1"/>
                </a:solidFill>
                <a:latin typeface="Segoe UI"/>
              </a:rPr>
              <a:t>IDOR remediation on user endpoints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300">
                <a:solidFill>
                  <a:srgbClr val="F59E0B"/>
                </a:solidFill>
                <a:latin typeface="Segoe UI"/>
              </a:rPr>
              <a:t>▸ </a:t>
            </a:r>
            <a:r>
              <a:rPr sz="1300">
                <a:solidFill>
                  <a:srgbClr val="CBD5E1"/>
                </a:solidFill>
                <a:latin typeface="Segoe UI"/>
              </a:rPr>
              <a:t>Accessibility improvements (WCAG 2.1 AA)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300">
                <a:solidFill>
                  <a:srgbClr val="F59E0B"/>
                </a:solidFill>
                <a:latin typeface="Segoe UI"/>
              </a:rPr>
              <a:t>▸ </a:t>
            </a:r>
            <a:r>
              <a:rPr sz="1300">
                <a:solidFill>
                  <a:srgbClr val="CBD5E1"/>
                </a:solidFill>
                <a:latin typeface="Segoe UI"/>
              </a:rPr>
              <a:t>Mobile-responsive optimizations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300">
                <a:solidFill>
                  <a:srgbClr val="F59E0B"/>
                </a:solidFill>
                <a:latin typeface="Segoe UI"/>
              </a:rPr>
              <a:t>▸ </a:t>
            </a:r>
            <a:r>
              <a:rPr sz="1300">
                <a:solidFill>
                  <a:srgbClr val="CBD5E1"/>
                </a:solidFill>
                <a:latin typeface="Segoe UI"/>
              </a:rPr>
              <a:t>Reporting module with export capabilities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300">
                <a:solidFill>
                  <a:srgbClr val="F59E0B"/>
                </a:solidFill>
                <a:latin typeface="Segoe UI"/>
              </a:rPr>
              <a:t>▸ </a:t>
            </a:r>
            <a:r>
              <a:rPr sz="1300">
                <a:solidFill>
                  <a:srgbClr val="CBD5E1"/>
                </a:solidFill>
                <a:latin typeface="Segoe UI"/>
              </a:rPr>
              <a:t>API documentation (OpenAPI/Swagger)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38BDF8"/>
                </a:solidFill>
                <a:latin typeface="Segoe UI"/>
              </a:defRPr>
            </a:pPr>
            <a:r>
              <a:t>JARVIS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9260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CBD5E1"/>
                </a:solidFill>
                <a:latin typeface="Segoe UI"/>
              </a:defRPr>
            </a:pPr>
            <a:r>
              <a:t>One Platform. All Operations. AI-Powered.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0" y="3840480"/>
            <a:ext cx="3044952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0" y="45720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4A3B8"/>
                </a:solidFill>
                <a:latin typeface="Segoe UI"/>
              </a:defRPr>
            </a:pPr>
            <a:r>
              <a:t>772+ APIs  ·  0+ Tables  ·  923 Tests  ·  4 AI Providers</a:t>
            </a:r>
            <a:br/>
            <a:r>
              <a:t>8 Modules  ·  Multi-Company  ·  Real-Time Approvals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57607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  <a:latin typeface="Segoe UI"/>
              </a:defRPr>
            </a:pPr>
            <a:r>
              <a:t>Built for AUTOWORLD  |  March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812280"/>
            <a:ext cx="12188952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