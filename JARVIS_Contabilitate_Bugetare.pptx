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  <a:latin typeface="Georgia"/>
              </a:defRPr>
            </a:pPr>
            <a:r>
              <a:t>JARVIS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00A896"/>
                </a:solidFill>
                <a:latin typeface="Georgia"/>
              </a:defRPr>
            </a:pPr>
            <a:r>
              <a:t>Modulul de Contabilitate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ADCFC"/>
                </a:solidFill>
                <a:latin typeface="Calibri"/>
              </a:defRPr>
            </a:pPr>
            <a:r>
              <a:t>Procesul de Bugetare — Arhitectura si Fluxul Logic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880360"/>
            <a:ext cx="3200400" cy="36576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5A5"/>
                </a:solidFill>
                <a:latin typeface="Calibri"/>
              </a:defRPr>
            </a:pPr>
            <a:r>
              <a:t>Documentatie Tehnica Interna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23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5A5"/>
                </a:solidFill>
                <a:latin typeface="Calibri"/>
              </a:defRPr>
            </a:pPr>
            <a:r>
              <a:t>Aprilie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0" y="0"/>
            <a:ext cx="25904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01200" y="0"/>
            <a:ext cx="54864" cy="6858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1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Georgia"/>
              </a:defRPr>
            </a:pPr>
            <a:r>
              <a:t>Prezentare Generala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Arhitectura de Nivel Inalt a Sistemului de Contabilitate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8067" y="2011680"/>
            <a:ext cx="1508760" cy="82296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e-Factura</a:t>
            </a:r>
            <a:br/>
            <a:r>
              <a:t>Sincronizare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5115" y="2423160"/>
            <a:ext cx="192024" cy="0"/>
          </a:xfrm>
          <a:prstGeom prst="line">
            <a:avLst/>
          </a:prstGeom>
          <a:ln w="25400">
            <a:solidFill>
              <a:srgbClr val="8B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735427" y="2011680"/>
            <a:ext cx="1508760" cy="822960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Receptie</a:t>
            </a:r>
            <a:br/>
            <a:r>
              <a:t>Facturi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262475" y="2423160"/>
            <a:ext cx="192024" cy="0"/>
          </a:xfrm>
          <a:prstGeom prst="line">
            <a:avLst/>
          </a:prstGeom>
          <a:ln w="25400">
            <a:solidFill>
              <a:srgbClr val="8B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472787" y="2011680"/>
            <a:ext cx="1508760" cy="8229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Alocare</a:t>
            </a:r>
            <a:br/>
            <a:r>
              <a:t>Costuri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99835" y="2423160"/>
            <a:ext cx="192024" cy="0"/>
          </a:xfrm>
          <a:prstGeom prst="line">
            <a:avLst/>
          </a:prstGeom>
          <a:ln w="25400">
            <a:solidFill>
              <a:srgbClr val="8B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210147" y="2011680"/>
            <a:ext cx="1508760" cy="822960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Extrase</a:t>
            </a:r>
            <a:br/>
            <a:r>
              <a:t>Bancare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37195" y="2423160"/>
            <a:ext cx="192024" cy="0"/>
          </a:xfrm>
          <a:prstGeom prst="line">
            <a:avLst/>
          </a:prstGeom>
          <a:ln w="25400">
            <a:solidFill>
              <a:srgbClr val="8B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947507" y="2011680"/>
            <a:ext cx="1508760" cy="8229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Fluxuri</a:t>
            </a:r>
            <a:br/>
            <a:r>
              <a:t>Aprobare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474555" y="2423160"/>
            <a:ext cx="192024" cy="0"/>
          </a:xfrm>
          <a:prstGeom prst="line">
            <a:avLst/>
          </a:prstGeom>
          <a:ln w="25400">
            <a:solidFill>
              <a:srgbClr val="8B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684867" y="2011680"/>
            <a:ext cx="1508760" cy="822960"/>
          </a:xfrm>
          <a:prstGeom prst="round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Bugetare</a:t>
            </a:r>
            <a:br/>
            <a:r>
              <a:t>&amp; Export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200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Infrastructura Suport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447" y="3657600"/>
            <a:ext cx="26060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9447" y="3657600"/>
            <a:ext cx="54864" cy="100584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2327" y="379476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Mapari Furnizori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2327" y="411480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A5"/>
                </a:solidFill>
                <a:latin typeface="Calibri"/>
              </a:defRPr>
            </a:pPr>
            <a:r>
              <a:t>Categorizare automata a furnizorilor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327" y="4370832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A5"/>
                </a:solidFill>
                <a:latin typeface="Calibri"/>
              </a:defRPr>
            </a:pPr>
            <a:r>
              <a:t>dupa CIF/nume catre departamente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98367" y="3657600"/>
            <a:ext cx="26060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98367" y="3657600"/>
            <a:ext cx="54864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81247" y="379476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Sabloane Facturi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81247" y="411480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A5"/>
                </a:solidFill>
                <a:latin typeface="Calibri"/>
              </a:defRPr>
            </a:pPr>
            <a:r>
              <a:t>Reguli de parsare bazate pe regex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81247" y="4370832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A5"/>
                </a:solidFill>
                <a:latin typeface="Calibri"/>
              </a:defRPr>
            </a:pPr>
            <a:r>
              <a:t>pentru facturi recurente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7287" y="3657600"/>
            <a:ext cx="26060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87287" y="3657600"/>
            <a:ext cx="54864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70167" y="379476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Mapari Vendori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0167" y="411480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A5"/>
                </a:solidFill>
                <a:latin typeface="Calibri"/>
              </a:defRPr>
            </a:pPr>
            <a:r>
              <a:t>Tranzactie bancara → rezolutie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70167" y="4370832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A5"/>
                </a:solidFill>
                <a:latin typeface="Calibri"/>
              </a:defRPr>
            </a:pPr>
            <a:r>
              <a:t>nume furnizor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76207" y="3657600"/>
            <a:ext cx="26060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976207" y="3657600"/>
            <a:ext cx="54864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59087" y="379476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Tag-uri &amp; Reguli Auto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59087" y="411480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A5"/>
                </a:solidFill>
                <a:latin typeface="Calibri"/>
              </a:defRPr>
            </a:pPr>
            <a:r>
              <a:t>Etichetare flexibila a entitatilor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59087" y="4370832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A5"/>
                </a:solidFill>
                <a:latin typeface="Calibri"/>
              </a:defRPr>
            </a:pPr>
            <a:r>
              <a:t>cu atribuire automata pe conditii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5029200"/>
            <a:ext cx="1106424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5212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5A5"/>
                </a:solidFill>
                <a:latin typeface="Calibri"/>
              </a:defRPr>
            </a:pPr>
            <a:r>
              <a:t>PostgreSQL + pgvector  |  Multi-companie multi-brand  |  Permisiuni bazate pe roluri (deny / own / department / all)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1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Georgia"/>
              </a:defRPr>
            </a:pPr>
            <a:r>
              <a:t>Modelul de Date Principal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Relatiile dintre Schemele Facturi &amp; Alocari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237744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377440" cy="320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8988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invoices (facturi)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19072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id  SERIAL PK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supplier  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21408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invoice_number  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22576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invoice_date  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523744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invoice_value  NUMERIC(15,2)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724912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currency  TEXT  (RON)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926080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value_ron  NUMERIC(15,2)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127248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value_eur  NUMERIC(15,2)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328415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exchange_rate  NUMERIC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529584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vat_rate  NUMERIC(5,2)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730752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net_value  NUMERIC(15,2)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931920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status  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133087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payment_status  TEXT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83280" y="1371600"/>
            <a:ext cx="25603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83280" y="1371600"/>
            <a:ext cx="2560320" cy="320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0" y="1389888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allocations (alocari)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1719072"/>
            <a:ext cx="2377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id  SERIAL PK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1920240"/>
            <a:ext cx="2377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invoice_id  FK → invoices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2121408"/>
            <a:ext cx="2377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company  TEXT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2322576"/>
            <a:ext cx="2377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brand  TEXT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2523744"/>
            <a:ext cx="2377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department  TEXT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2724912"/>
            <a:ext cx="2377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subdepartment  TEXT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2926080"/>
            <a:ext cx="2377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allocation_percent  NUM(7,4)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3127248"/>
            <a:ext cx="2377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allocation_value  NUM(15,2)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0" y="3328415"/>
            <a:ext cx="2377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responsible  TEXT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3529584"/>
            <a:ext cx="2377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responsible_user_id  FK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0" y="3730752"/>
            <a:ext cx="2377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reinvoice_to  TEXT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0" y="3931920"/>
            <a:ext cx="2377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locked  BOOLEAN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4133087"/>
            <a:ext cx="2377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comment  TEXT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92240" y="1371600"/>
            <a:ext cx="23774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92240" y="1371600"/>
            <a:ext cx="2377440" cy="320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79" y="138988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reinvoice_destinations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79" y="1719072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id  SERIAL PK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79" y="1920240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allocation_id  FK → alloc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79" y="2121408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company  TEXT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79" y="2322576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brand  TEXT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79" y="2523744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department  TEXT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79" y="2724912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percentage  NUM(7,4)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79" y="2926080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value  NUM(15,2)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92240" y="3657600"/>
            <a:ext cx="23774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492240" y="3657600"/>
            <a:ext cx="2377440" cy="320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83679" y="3675887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invoice_templates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79" y="4005072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id  SERIAL PK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79" y="4206240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name  TEXT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79" y="4407408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supplier / supplier_vat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79" y="4608576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invoice_number_regex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79" y="4809744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invoice_date_regex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83679" y="5010912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invoice_value_regex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326880" y="1371600"/>
            <a:ext cx="23774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326880" y="1371600"/>
            <a:ext cx="2377440" cy="320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418319" y="138988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vendor_mappings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418319" y="1719072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id  SERIAL PK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418319" y="1920240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pattern  TEXT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18319" y="2121408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supplier_name  TEXT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418319" y="2322576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supplier_vat  TEXT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418319" y="2523744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template_id  FK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326880" y="3383280"/>
            <a:ext cx="23774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326880" y="3383280"/>
            <a:ext cx="2377440" cy="320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418319" y="340156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bank_stmt_transactions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418319" y="3730752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id  SERIAL PK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418319" y="3931920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statement_id  FK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418319" y="4133088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vendor_name  TEXT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418319" y="4334256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matched_supplier  TEXT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418319" y="4535424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amount  NUM(15,2)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418319" y="4736592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invoice_id  FK → invoices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418319" y="4937760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status  (pending/matched)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418319" y="5138928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match_confidence  NUM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2834640" y="2560320"/>
            <a:ext cx="548640" cy="0"/>
          </a:xfrm>
          <a:prstGeom prst="line">
            <a:avLst/>
          </a:prstGeom>
          <a:ln w="25400">
            <a:solidFill>
              <a:srgbClr val="00A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5943600" y="2103120"/>
            <a:ext cx="548640" cy="0"/>
          </a:xfrm>
          <a:prstGeom prst="line">
            <a:avLst/>
          </a:prstGeom>
          <a:ln w="254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8869680" y="1828800"/>
            <a:ext cx="457200" cy="0"/>
          </a:xfrm>
          <a:prstGeom prst="line">
            <a:avLst/>
          </a:prstGeom>
          <a:ln w="25400">
            <a:solidFill>
              <a:srgbClr val="8B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1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Georgia"/>
              </a:defRPr>
            </a:pPr>
            <a:r>
              <a:t>Integrare e-Factura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Pipeline de Sincronizare OAuth2 cu ANAF &amp; Model de Date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22860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286000" cy="320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8988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efactura_connections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19072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id  SERIAL PK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cif  VARCHAR(20)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21408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display_name  VARCHAR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22576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environment  (test/prod)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523744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last_sync_at  TIMESTAMP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724912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status  (active/...)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92608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cert_fingerprint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749039"/>
            <a:ext cx="22860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749039"/>
            <a:ext cx="2286000" cy="320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767327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efactura_oauth_tokens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096511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id  SERIAL PK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297679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cif  VARCHAR(20)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498848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access_token  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700016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refresh_token  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901183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expires_at  TIMESTAMP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0" y="1371600"/>
            <a:ext cx="22860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0" y="1371600"/>
            <a:ext cx="2286000" cy="320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91840" y="138988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efactura_sync_runs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1719072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id  SERIAL PK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192024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run_id  UUID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2121408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company_cif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2322576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direction  (trimise/primite)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2523744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messages_checked  INT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40" y="2724912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invoices_created  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91840" y="292608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invoices_updated  INT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40" y="3127248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errors_count  INT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00400" y="3931920"/>
            <a:ext cx="22860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00400" y="3931920"/>
            <a:ext cx="2286000" cy="3200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91840" y="3950207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efactura_sync_errors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91840" y="4279392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id  SERIAL PK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91840" y="4480559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run_id  FK → sync_runs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91840" y="4681728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error_type  VARCHAR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91840" y="4882896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error_message  TEXT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91840" y="5084064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is_retryable  BOOL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43600" y="1371600"/>
            <a:ext cx="256032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943600" y="1371600"/>
            <a:ext cx="2560320" cy="320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35040" y="1389888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efactura_invoices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1719072"/>
            <a:ext cx="2377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id  SERIAL PK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35040" y="1920240"/>
            <a:ext cx="2377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cif_owner  VARCHAR(20)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35040" y="2121408"/>
            <a:ext cx="2377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direction  (trimise/primite)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35040" y="2322576"/>
            <a:ext cx="2377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partner_cif / partner_name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5040" y="2523744"/>
            <a:ext cx="2377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invoice_number / series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35040" y="2724912"/>
            <a:ext cx="2377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issue_date / due_date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35040" y="2926080"/>
            <a:ext cx="2377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total_amount  NUM(15,2)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35040" y="3127248"/>
            <a:ext cx="2377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total_vat / total_without_vat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35040" y="3328415"/>
            <a:ext cx="2377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currency  (RON)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35040" y="3529584"/>
            <a:ext cx="2377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jarvis_invoice_id  FK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035040" y="3730752"/>
            <a:ext cx="2377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type_override / dept_override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943600" y="4572000"/>
            <a:ext cx="25603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943600" y="4572000"/>
            <a:ext cx="256032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35040" y="4590288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efactura_supplier_mappings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035040" y="4919472"/>
            <a:ext cx="2377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partner_name / partner_cif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035040" y="5120640"/>
            <a:ext cx="2377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supplier_name / vat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035040" y="5321808"/>
            <a:ext cx="2377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department / brand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35040" y="5522976"/>
            <a:ext cx="2377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type_id  FK → supplier_types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961120" y="1371600"/>
            <a:ext cx="1371600" cy="640080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ANAF</a:t>
            </a:r>
            <a:br/>
            <a:r>
              <a:t>API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961120" y="2377440"/>
            <a:ext cx="1371600" cy="6400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Flux</a:t>
            </a:r>
            <a:br/>
            <a:r>
              <a:t>OAuth2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961120" y="3383280"/>
            <a:ext cx="1371600" cy="640080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Motor</a:t>
            </a:r>
            <a:br/>
            <a:r>
              <a:t>Sincronizare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961120" y="4389120"/>
            <a:ext cx="1371600" cy="6400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Mapare</a:t>
            </a:r>
            <a:br/>
            <a:r>
              <a:t>Furnizori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961120" y="5394960"/>
            <a:ext cx="1371600" cy="64008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→ Factura</a:t>
            </a:r>
            <a:br/>
            <a:r>
              <a:t>Jarvis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9646920" y="2011680"/>
            <a:ext cx="0" cy="365760"/>
          </a:xfrm>
          <a:prstGeom prst="line">
            <a:avLst/>
          </a:prstGeom>
          <a:ln w="25400">
            <a:solidFill>
              <a:srgbClr val="00A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9646920" y="3017520"/>
            <a:ext cx="0" cy="365759"/>
          </a:xfrm>
          <a:prstGeom prst="line">
            <a:avLst/>
          </a:prstGeom>
          <a:ln w="25400">
            <a:solidFill>
              <a:srgbClr val="00A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9646920" y="4023360"/>
            <a:ext cx="0" cy="365760"/>
          </a:xfrm>
          <a:prstGeom prst="line">
            <a:avLst/>
          </a:prstGeom>
          <a:ln w="25400">
            <a:solidFill>
              <a:srgbClr val="00A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9646920" y="5029200"/>
            <a:ext cx="0" cy="365760"/>
          </a:xfrm>
          <a:prstGeom prst="line">
            <a:avLst/>
          </a:prstGeom>
          <a:ln w="25400">
            <a:solidFill>
              <a:srgbClr val="00A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10515600" y="1371600"/>
            <a:ext cx="1280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5A5"/>
                </a:solidFill>
                <a:latin typeface="Calibri"/>
              </a:defRPr>
            </a:pPr>
            <a:r>
              <a:t>1. Conectare companie</a:t>
            </a:r>
            <a:br/>
            <a:r>
              <a:t>   prin OAuth2</a:t>
            </a:r>
            <a:br/>
            <a:br/>
            <a:r>
              <a:t>2. Sincronizare mesaje</a:t>
            </a:r>
            <a:br/>
            <a:r>
              <a:t>   XML de la ANAF</a:t>
            </a:r>
            <a:br/>
            <a:br/>
            <a:r>
              <a:t>3. Parsare facturi</a:t>
            </a:r>
            <a:br/>
            <a:r>
              <a:t>   din XML</a:t>
            </a:r>
            <a:br/>
            <a:br/>
            <a:r>
              <a:t>4. Mapare furnizori</a:t>
            </a:r>
            <a:br/>
            <a:r>
              <a:t>   la nume interne</a:t>
            </a:r>
            <a:br/>
            <a:br/>
            <a:r>
              <a:t>5. Creare/legare</a:t>
            </a:r>
            <a:br/>
            <a:r>
              <a:t>   factura Jarvis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1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Georgia"/>
              </a:defRPr>
            </a:pPr>
            <a:r>
              <a:t>Receptia Facturilor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De la Incarcare la Factura Stocata — Pipeline-ul de Procesare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0927" y="1645920"/>
            <a:ext cx="1554480" cy="73152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Incarcare</a:t>
            </a:r>
            <a:br/>
            <a:r>
              <a:t>PDF/Imagine</a:t>
            </a:r>
          </a:p>
        </p:txBody>
      </p:sp>
      <p:sp>
        <p:nvSpPr>
          <p:cNvPr id="6" name="Oval 5"/>
          <p:cNvSpPr/>
          <p:nvPr/>
        </p:nvSpPr>
        <p:spPr>
          <a:xfrm>
            <a:off x="1661007" y="1371600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0927" y="246888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B95A5"/>
                </a:solidFill>
                <a:latin typeface="Calibri"/>
              </a:defRPr>
            </a:pPr>
            <a:r>
              <a:t>Utilizatorul incarca</a:t>
            </a:r>
            <a:br/>
            <a:r>
              <a:t>via /api/submit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93695" y="2011680"/>
            <a:ext cx="128016" cy="0"/>
          </a:xfrm>
          <a:prstGeom prst="line">
            <a:avLst/>
          </a:prstGeom>
          <a:ln w="25400">
            <a:solidFill>
              <a:srgbClr val="8B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39999" y="1645920"/>
            <a:ext cx="1554480" cy="731520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Parsare AI</a:t>
            </a:r>
            <a:br/>
            <a:r>
              <a:t>(OCR/LLM)</a:t>
            </a:r>
          </a:p>
        </p:txBody>
      </p:sp>
      <p:sp>
        <p:nvSpPr>
          <p:cNvPr id="10" name="Oval 9"/>
          <p:cNvSpPr/>
          <p:nvPr/>
        </p:nvSpPr>
        <p:spPr>
          <a:xfrm>
            <a:off x="3380079" y="1371600"/>
            <a:ext cx="274320" cy="27432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39999" y="246888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B95A5"/>
                </a:solidFill>
                <a:latin typeface="Calibri"/>
              </a:defRPr>
            </a:pPr>
            <a:r>
              <a:t>Extrage campuri:</a:t>
            </a:r>
            <a:br/>
            <a:r>
              <a:t>furnizor, suma, data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312767" y="2011680"/>
            <a:ext cx="128016" cy="0"/>
          </a:xfrm>
          <a:prstGeom prst="line">
            <a:avLst/>
          </a:prstGeom>
          <a:ln w="25400">
            <a:solidFill>
              <a:srgbClr val="8B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459071" y="1645920"/>
            <a:ext cx="1554480" cy="7315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Potrivire</a:t>
            </a:r>
            <a:br/>
            <a:r>
              <a:t>Sablon</a:t>
            </a:r>
          </a:p>
        </p:txBody>
      </p:sp>
      <p:sp>
        <p:nvSpPr>
          <p:cNvPr id="14" name="Oval 13"/>
          <p:cNvSpPr/>
          <p:nvPr/>
        </p:nvSpPr>
        <p:spPr>
          <a:xfrm>
            <a:off x="5099151" y="1371600"/>
            <a:ext cx="274320" cy="2743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9071" y="246888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B95A5"/>
                </a:solidFill>
                <a:latin typeface="Calibri"/>
              </a:defRPr>
            </a:pPr>
            <a:r>
              <a:t>Potrivire reguli regex</a:t>
            </a:r>
            <a:br/>
            <a:r>
              <a:t>sau creare sablon nou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31839" y="2011680"/>
            <a:ext cx="128016" cy="0"/>
          </a:xfrm>
          <a:prstGeom prst="line">
            <a:avLst/>
          </a:prstGeom>
          <a:ln w="25400">
            <a:solidFill>
              <a:srgbClr val="8B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178143" y="1645920"/>
            <a:ext cx="1554480" cy="7315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Calcul</a:t>
            </a:r>
            <a:br/>
            <a:r>
              <a:t>TVA</a:t>
            </a:r>
          </a:p>
        </p:txBody>
      </p:sp>
      <p:sp>
        <p:nvSpPr>
          <p:cNvPr id="18" name="Oval 17"/>
          <p:cNvSpPr/>
          <p:nvPr/>
        </p:nvSpPr>
        <p:spPr>
          <a:xfrm>
            <a:off x="6818223" y="1371600"/>
            <a:ext cx="274320" cy="2743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8143" y="246888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B95A5"/>
                </a:solidFill>
                <a:latin typeface="Calibri"/>
              </a:defRPr>
            </a:pPr>
            <a:r>
              <a:t>Aplica cota TVA,</a:t>
            </a:r>
            <a:br/>
            <a:r>
              <a:t>calculeaza valoare neta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50911" y="2011680"/>
            <a:ext cx="128016" cy="0"/>
          </a:xfrm>
          <a:prstGeom prst="line">
            <a:avLst/>
          </a:prstGeom>
          <a:ln w="25400">
            <a:solidFill>
              <a:srgbClr val="8B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897215" y="1645920"/>
            <a:ext cx="1554480" cy="7315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Sugestie</a:t>
            </a:r>
            <a:br/>
            <a:r>
              <a:t>Departament</a:t>
            </a:r>
          </a:p>
        </p:txBody>
      </p:sp>
      <p:sp>
        <p:nvSpPr>
          <p:cNvPr id="22" name="Oval 21"/>
          <p:cNvSpPr/>
          <p:nvPr/>
        </p:nvSpPr>
        <p:spPr>
          <a:xfrm>
            <a:off x="8537295" y="1371600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97215" y="246888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B95A5"/>
                </a:solidFill>
                <a:latin typeface="Calibri"/>
              </a:defRPr>
            </a:pPr>
            <a:r>
              <a:t>AI sugereaza dept</a:t>
            </a:r>
            <a:br/>
            <a:r>
              <a:t>pe baza furnizorului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469983" y="2011680"/>
            <a:ext cx="128016" cy="0"/>
          </a:xfrm>
          <a:prstGeom prst="line">
            <a:avLst/>
          </a:prstGeom>
          <a:ln w="25400">
            <a:solidFill>
              <a:srgbClr val="8B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616287" y="1645920"/>
            <a:ext cx="1554480" cy="73152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Stocare in</a:t>
            </a:r>
            <a:br/>
            <a:r>
              <a:t>Baza de Date</a:t>
            </a:r>
          </a:p>
        </p:txBody>
      </p:sp>
      <p:sp>
        <p:nvSpPr>
          <p:cNvPr id="26" name="Oval 25"/>
          <p:cNvSpPr/>
          <p:nvPr/>
        </p:nvSpPr>
        <p:spPr>
          <a:xfrm>
            <a:off x="10256367" y="1371600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16287" y="246888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B95A5"/>
                </a:solidFill>
                <a:latin typeface="Calibri"/>
              </a:defRPr>
            </a:pPr>
            <a:r>
              <a:t>Insert in tabelul</a:t>
            </a:r>
            <a:br/>
            <a:r>
              <a:t>invoices + drive_link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291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Endpoint-uri API Principale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3749039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761"/>
                </a:solidFill>
                <a:latin typeface="Consolas"/>
              </a:defRPr>
            </a:pPr>
            <a:r>
              <a:t>POST /api/submit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374903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Trimite factura noua cu fisier + metadate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0" y="3767327"/>
            <a:ext cx="1645920" cy="228600"/>
          </a:xfrm>
          <a:prstGeom prst="round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89720" y="3767327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2761"/>
                </a:solidFill>
                <a:latin typeface="Calibri"/>
              </a:defRPr>
            </a:pPr>
            <a:r>
              <a:t>can_add_invoices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069079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761"/>
                </a:solidFill>
                <a:latin typeface="Consolas"/>
              </a:defRPr>
            </a:pPr>
            <a:r>
              <a:t>POST /api/parse-invoice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0" y="406907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Extractie OCR/AI din fisierul incarcat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0" y="4087367"/>
            <a:ext cx="1645920" cy="228600"/>
          </a:xfrm>
          <a:prstGeom prst="round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89720" y="4087367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2761"/>
                </a:solidFill>
                <a:latin typeface="Calibri"/>
              </a:defRPr>
            </a:pPr>
            <a:r>
              <a:t>can_add_invoices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43891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761"/>
                </a:solidFill>
                <a:latin typeface="Consolas"/>
              </a:defRPr>
            </a:pPr>
            <a:r>
              <a:t>GET /api/suggest-department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0" y="4389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Sugestie departament bazata pe AI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407407"/>
            <a:ext cx="1645920" cy="228600"/>
          </a:xfrm>
          <a:prstGeom prst="round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89720" y="4407407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2761"/>
                </a:solidFill>
                <a:latin typeface="Calibri"/>
              </a:defRPr>
            </a:pPr>
            <a:r>
              <a:t>can_add_invoices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4709159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761"/>
                </a:solidFill>
                <a:latin typeface="Consolas"/>
              </a:defRPr>
            </a:pPr>
            <a:r>
              <a:t>GET /api/db/invoices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0480" y="470915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Lista facturi cu filtre, paginare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44000" y="4727447"/>
            <a:ext cx="1645920" cy="228600"/>
          </a:xfrm>
          <a:prstGeom prst="round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89720" y="4727447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2761"/>
                </a:solidFill>
                <a:latin typeface="Calibri"/>
              </a:defRPr>
            </a:pPr>
            <a:r>
              <a:t>can_view_invoices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50292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761"/>
                </a:solidFill>
                <a:latin typeface="Consolas"/>
              </a:defRPr>
            </a:pPr>
            <a:r>
              <a:t>PUT /api/db/invoices/&lt;id&gt;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40480" y="5029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Actualizeaza campurile facturii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144000" y="5047488"/>
            <a:ext cx="1645920" cy="228600"/>
          </a:xfrm>
          <a:prstGeom prst="round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89720" y="504748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2761"/>
                </a:solidFill>
                <a:latin typeface="Calibri"/>
              </a:defRPr>
            </a:pPr>
            <a:r>
              <a:t>can_edit_invoices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" y="53492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761"/>
                </a:solidFill>
                <a:latin typeface="Consolas"/>
              </a:defRPr>
            </a:pPr>
            <a:r>
              <a:t>PUT /api/db/invoices/&lt;id&gt;/allocations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40480" y="5349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Seteaza alocari de cost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144000" y="5367527"/>
            <a:ext cx="1645920" cy="228600"/>
          </a:xfrm>
          <a:prstGeom prst="round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89720" y="5367527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2761"/>
                </a:solidFill>
                <a:latin typeface="Calibri"/>
              </a:defRPr>
            </a:pPr>
            <a:r>
              <a:t>can_edit_invoices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1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Georgia"/>
              </a:defRPr>
            </a:pPr>
            <a:r>
              <a:t>Alocarea Costurilor — Nucleul Bugetarii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Cum se Impart Facturile pe Companii, Brand-uri &amp; Departamente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828800" cy="109728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Factura</a:t>
            </a:r>
            <a:br/>
            <a:r>
              <a:t>#12345</a:t>
            </a:r>
            <a:br/>
            <a:r>
              <a:t>€5.000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77440" y="2834640"/>
            <a:ext cx="640080" cy="0"/>
          </a:xfrm>
          <a:prstGeom prst="line">
            <a:avLst/>
          </a:prstGeom>
          <a:ln w="38100">
            <a:solidFill>
              <a:srgbClr val="00A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017520" y="2103120"/>
            <a:ext cx="2011680" cy="1645920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Motor</a:t>
            </a:r>
            <a:br/>
            <a:r>
              <a:t>Alocare</a:t>
            </a:r>
            <a:br/>
            <a:br/>
            <a:r>
              <a:t>Impartire %</a:t>
            </a:r>
            <a:br/>
            <a:r>
              <a:t>pe companie</a:t>
            </a:r>
            <a:br/>
            <a:r>
              <a:t>&amp; departament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5029200" y="1920240"/>
            <a:ext cx="274320" cy="914400"/>
          </a:xfrm>
          <a:prstGeom prst="line">
            <a:avLst/>
          </a:prstGeom>
          <a:ln w="25400">
            <a:solidFill>
              <a:srgbClr val="1E27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86400" y="1554480"/>
            <a:ext cx="27432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0" y="1554480"/>
            <a:ext cx="54864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0" y="16916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Autoworld Next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2011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A5"/>
                </a:solidFill>
                <a:latin typeface="Calibri"/>
              </a:defRPr>
            </a:pPr>
            <a:r>
              <a:t>Marketing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2677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A5"/>
                </a:solidFill>
                <a:latin typeface="Calibri"/>
              </a:defRPr>
            </a:pPr>
            <a:r>
              <a:t>50%  =  €2.500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29200" y="2834640"/>
            <a:ext cx="274320" cy="274320"/>
          </a:xfrm>
          <a:prstGeom prst="line">
            <a:avLst/>
          </a:prstGeom>
          <a:ln w="254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486400" y="2743200"/>
            <a:ext cx="27432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2743200"/>
            <a:ext cx="54864" cy="914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2880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Autoworld Plus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3200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A5"/>
                </a:solidFill>
                <a:latin typeface="Calibri"/>
              </a:defRPr>
            </a:pPr>
            <a:r>
              <a:t>Vanzari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34564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A5"/>
                </a:solidFill>
                <a:latin typeface="Calibri"/>
              </a:defRPr>
            </a:pPr>
            <a:r>
              <a:t>30%  =  €1.500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29200" y="2834640"/>
            <a:ext cx="274320" cy="1463040"/>
          </a:xfrm>
          <a:prstGeom prst="line">
            <a:avLst/>
          </a:prstGeom>
          <a:ln w="25400">
            <a:solidFill>
              <a:srgbClr val="065A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486400" y="3931920"/>
            <a:ext cx="27432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0" y="3931920"/>
            <a:ext cx="54864" cy="9144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0" y="4069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AW Prestige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4389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A5"/>
                </a:solidFill>
                <a:latin typeface="Calibri"/>
              </a:defRPr>
            </a:pPr>
            <a:r>
              <a:t>Operatiuni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46451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A5"/>
                </a:solidFill>
                <a:latin typeface="Calibri"/>
              </a:defRPr>
            </a:pPr>
            <a:r>
              <a:t>20%  =  €1.000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1371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Flux Refacturare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0" y="1783080"/>
            <a:ext cx="30175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0" y="201168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A5"/>
                </a:solidFill>
                <a:latin typeface="Calibri"/>
              </a:defRPr>
            </a:pPr>
            <a:r>
              <a:t>Cand o alocare are reinvoice_to setat:</a:t>
            </a:r>
            <a:br/>
            <a:br/>
            <a:r>
              <a:t>1. Alocarea originala ramane pe sursa</a:t>
            </a:r>
            <a:br/>
            <a:br/>
            <a:r>
              <a:t>2. Tabelul reinvoice_destinations</a:t>
            </a:r>
            <a:br/>
            <a:r>
              <a:t>   stocheaza compania/brandul/dept tinta</a:t>
            </a:r>
            <a:br/>
            <a:br/>
            <a:r>
              <a:t>3. Fiecare destinatie primeste un procent</a:t>
            </a:r>
            <a:br/>
            <a:r>
              <a:t>   din valoarea alocarii</a:t>
            </a:r>
            <a:br/>
            <a:br/>
            <a:r>
              <a:t>4. Permite transferul costurilor</a:t>
            </a:r>
            <a:br/>
            <a:r>
              <a:t>   inter-companie in cadrul holdingului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846320"/>
            <a:ext cx="11064240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029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5A5"/>
                </a:solidFill>
                <a:latin typeface="Calibri"/>
              </a:defRPr>
            </a:pPr>
            <a:r>
              <a:t>Campuri Cheie:  allocation_percent (7,4)  |  allocation_value (15,2)  |  responsible_user_id  |  locked (previne editarea)  |  comment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486400"/>
            <a:ext cx="10789920" cy="457200"/>
          </a:xfrm>
          <a:prstGeom prst="round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53212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E2761"/>
                </a:solidFill>
                <a:latin typeface="Consolas"/>
              </a:defRPr>
            </a:pPr>
            <a:r>
              <a:t>allocation_value  =  invoice_value  ×  (allocation_percent / 100)     |     SUMA(allocation_percent) per factura TREBUIE = 100%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1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Georgia"/>
              </a:defRPr>
            </a:pPr>
            <a:r>
              <a:t>Bugetare — Procesare in Masa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Procesare Multipla Facturi, Potrivire AI &amp; Export Excel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463040" cy="64008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14173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A5"/>
                </a:solidFill>
                <a:latin typeface="Calibri"/>
              </a:defRPr>
            </a:pPr>
            <a:r>
              <a:t>Incarca facturi multiple</a:t>
            </a:r>
            <a:br/>
            <a:r>
              <a:t>sau selecteaza din baza de date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63040" y="2011680"/>
            <a:ext cx="0" cy="365760"/>
          </a:xfrm>
          <a:prstGeom prst="line">
            <a:avLst/>
          </a:prstGeom>
          <a:ln w="25400">
            <a:solidFill>
              <a:srgbClr val="1E27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31520" y="2377440"/>
            <a:ext cx="1463040" cy="640080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Procesare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24231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A5"/>
                </a:solidFill>
                <a:latin typeface="Calibri"/>
              </a:defRPr>
            </a:pPr>
            <a:r>
              <a:t>POST /api/bulk/process</a:t>
            </a:r>
            <a:br/>
            <a:r>
              <a:t>Parseaza &amp; valideaza toate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63040" y="3017520"/>
            <a:ext cx="0" cy="365760"/>
          </a:xfrm>
          <a:prstGeom prst="line">
            <a:avLst/>
          </a:prstGeom>
          <a:ln w="25400">
            <a:solidFill>
              <a:srgbClr val="00A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31520" y="3383280"/>
            <a:ext cx="1463040" cy="6400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Potrivire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34290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A5"/>
                </a:solidFill>
                <a:latin typeface="Calibri"/>
              </a:defRPr>
            </a:pPr>
            <a:r>
              <a:t>POST /api/bulk/match-campaigns</a:t>
            </a:r>
            <a:br/>
            <a:r>
              <a:t>Leaga facturile de campanii mkt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463040" y="4023360"/>
            <a:ext cx="0" cy="365760"/>
          </a:xfrm>
          <a:prstGeom prst="line">
            <a:avLst/>
          </a:prstGeom>
          <a:ln w="254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31520" y="4389120"/>
            <a:ext cx="1463040" cy="6400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Grupare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44348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A5"/>
                </a:solidFill>
                <a:latin typeface="Calibri"/>
              </a:defRPr>
            </a:pPr>
            <a:r>
              <a:t>POST /api/bulk/group-similar-items</a:t>
            </a:r>
            <a:br/>
            <a:r>
              <a:t>Grupeaza facturile similare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463040" y="5029200"/>
            <a:ext cx="0" cy="36576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1520" y="5394960"/>
            <a:ext cx="1463040" cy="6400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Export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54406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A5"/>
                </a:solidFill>
                <a:latin typeface="Calibri"/>
              </a:defRPr>
            </a:pPr>
            <a:r>
              <a:t>POST /api/bulk/export</a:t>
            </a:r>
            <a:br/>
            <a:r>
              <a:t>Genereaza Excel cu alocari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Structura Export Excel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920240"/>
            <a:ext cx="914400" cy="2743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1920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Furnizor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0" y="1920240"/>
            <a:ext cx="777240" cy="2743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60920" y="192024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Nr. Fact.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92440" y="1920240"/>
            <a:ext cx="640080" cy="2743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0" y="1920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Suma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32519" y="1920240"/>
            <a:ext cx="777240" cy="2743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0" y="192024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Companie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09759" y="1920240"/>
            <a:ext cx="685800" cy="2743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55480" y="192024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Dept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195559" y="1920240"/>
            <a:ext cx="594360" cy="2743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41280" y="192024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Brand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789919" y="1920240"/>
            <a:ext cx="502920" cy="2743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835640" y="192024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219456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21945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293B"/>
                </a:solidFill>
                <a:latin typeface="Calibri"/>
              </a:defRPr>
            </a:pPr>
            <a:r>
              <a:t>VGS Romania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0" y="2194560"/>
            <a:ext cx="7772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60920" y="219456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293B"/>
                </a:solidFill>
                <a:latin typeface="Calibri"/>
              </a:defRPr>
            </a:pPr>
            <a:r>
              <a:t>VGSR 3442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92440" y="2194560"/>
            <a:ext cx="6400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38160" y="21945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293B"/>
                </a:solidFill>
                <a:latin typeface="Calibri"/>
              </a:defRPr>
            </a:pPr>
            <a:r>
              <a:t>5.200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732519" y="2194560"/>
            <a:ext cx="7772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78240" y="219456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293B"/>
                </a:solidFill>
                <a:latin typeface="Calibri"/>
              </a:defRPr>
            </a:pPr>
            <a:r>
              <a:t>AW Next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509759" y="2194560"/>
            <a:ext cx="6858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55480" y="219456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293B"/>
                </a:solidFill>
                <a:latin typeface="Calibri"/>
              </a:defRPr>
            </a:pPr>
            <a:r>
              <a:t>Marketing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195559" y="2194560"/>
            <a:ext cx="5943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241280" y="219456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293B"/>
                </a:solidFill>
                <a:latin typeface="Calibri"/>
              </a:defRPr>
            </a:pPr>
            <a:r>
              <a:t>BMW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789919" y="2194560"/>
            <a:ext cx="5029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835640" y="219456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293B"/>
                </a:solidFill>
                <a:latin typeface="Calibri"/>
              </a:defRPr>
            </a:pPr>
            <a:r>
              <a:t>60%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0" y="2468879"/>
            <a:ext cx="914400" cy="2743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46520" y="2468879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293B"/>
                </a:solidFill>
                <a:latin typeface="Calibri"/>
              </a:defRPr>
            </a:pPr>
          </a:p>
        </p:txBody>
      </p:sp>
      <p:sp>
        <p:nvSpPr>
          <p:cNvPr id="50" name="Rectangle 49"/>
          <p:cNvSpPr/>
          <p:nvPr/>
        </p:nvSpPr>
        <p:spPr>
          <a:xfrm>
            <a:off x="7315200" y="2468879"/>
            <a:ext cx="777240" cy="2743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60920" y="2468879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293B"/>
                </a:solidFill>
                <a:latin typeface="Calibri"/>
              </a:defRPr>
            </a:pPr>
          </a:p>
        </p:txBody>
      </p:sp>
      <p:sp>
        <p:nvSpPr>
          <p:cNvPr id="52" name="Rectangle 51"/>
          <p:cNvSpPr/>
          <p:nvPr/>
        </p:nvSpPr>
        <p:spPr>
          <a:xfrm>
            <a:off x="8092440" y="2468879"/>
            <a:ext cx="640080" cy="2743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138160" y="2468879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293B"/>
                </a:solidFill>
                <a:latin typeface="Calibri"/>
              </a:defRPr>
            </a:pPr>
          </a:p>
        </p:txBody>
      </p:sp>
      <p:sp>
        <p:nvSpPr>
          <p:cNvPr id="54" name="Rectangle 53"/>
          <p:cNvSpPr/>
          <p:nvPr/>
        </p:nvSpPr>
        <p:spPr>
          <a:xfrm>
            <a:off x="8732519" y="2468879"/>
            <a:ext cx="777240" cy="2743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78240" y="2468879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293B"/>
                </a:solidFill>
                <a:latin typeface="Calibri"/>
              </a:defRPr>
            </a:pPr>
            <a:r>
              <a:t>AW Plus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509759" y="2468879"/>
            <a:ext cx="685800" cy="2743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555480" y="2468879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293B"/>
                </a:solidFill>
                <a:latin typeface="Calibri"/>
              </a:defRPr>
            </a:pPr>
            <a:r>
              <a:t>Vanzari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195559" y="2468879"/>
            <a:ext cx="594360" cy="2743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241280" y="2468879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293B"/>
                </a:solidFill>
                <a:latin typeface="Calibri"/>
              </a:defRPr>
            </a:pPr>
            <a:r>
              <a:t>Audi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789919" y="2468879"/>
            <a:ext cx="502920" cy="2743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835640" y="2468879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293B"/>
                </a:solidFill>
                <a:latin typeface="Calibri"/>
              </a:defRPr>
            </a:pPr>
            <a:r>
              <a:t>40%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00800" y="274320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46520" y="27432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293B"/>
                </a:solidFill>
                <a:latin typeface="Calibri"/>
              </a:defRPr>
            </a:pPr>
            <a:r>
              <a:t>Canopy SRL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315200" y="2743200"/>
            <a:ext cx="7772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360920" y="274320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293B"/>
                </a:solidFill>
                <a:latin typeface="Calibri"/>
              </a:defRPr>
            </a:pPr>
            <a:r>
              <a:t>15562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092440" y="2743200"/>
            <a:ext cx="6400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138160" y="27432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293B"/>
                </a:solidFill>
                <a:latin typeface="Calibri"/>
              </a:defRPr>
            </a:pPr>
            <a:r>
              <a:t>3.100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732519" y="2743200"/>
            <a:ext cx="7772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778240" y="274320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293B"/>
                </a:solidFill>
                <a:latin typeface="Calibri"/>
              </a:defRPr>
            </a:pPr>
            <a:r>
              <a:t>AW Prestige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09759" y="2743200"/>
            <a:ext cx="6858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555480" y="274320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293B"/>
                </a:solidFill>
                <a:latin typeface="Calibri"/>
              </a:defRPr>
            </a:pPr>
            <a:r>
              <a:t>Operatiuni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195559" y="2743200"/>
            <a:ext cx="5943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241280" y="274320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293B"/>
                </a:solidFill>
                <a:latin typeface="Calibri"/>
              </a:defRPr>
            </a:pPr>
            <a:r>
              <a:t>MB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789919" y="2743200"/>
            <a:ext cx="5029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835640" y="27432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293B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400800" y="3017520"/>
            <a:ext cx="914400" cy="2743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446520" y="3017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293B"/>
                </a:solidFill>
                <a:latin typeface="Calibri"/>
              </a:defRPr>
            </a:pPr>
            <a:r>
              <a:t>Google Ads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315200" y="3017520"/>
            <a:ext cx="777240" cy="2743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360920" y="301752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293B"/>
                </a:solidFill>
                <a:latin typeface="Calibri"/>
              </a:defRPr>
            </a:pPr>
            <a:r>
              <a:t>5273308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092440" y="3017520"/>
            <a:ext cx="640080" cy="2743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138160" y="3017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293B"/>
                </a:solidFill>
                <a:latin typeface="Calibri"/>
              </a:defRPr>
            </a:pPr>
            <a:r>
              <a:t>12.450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732519" y="3017520"/>
            <a:ext cx="777240" cy="2743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778240" y="301752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293B"/>
                </a:solidFill>
                <a:latin typeface="Calibri"/>
              </a:defRPr>
            </a:pPr>
            <a:r>
              <a:t>AW Next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509759" y="3017520"/>
            <a:ext cx="685800" cy="2743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555480" y="301752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293B"/>
                </a:solidFill>
                <a:latin typeface="Calibri"/>
              </a:defRPr>
            </a:pPr>
            <a:r>
              <a:t>Marketing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195559" y="3017520"/>
            <a:ext cx="594360" cy="2743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241280" y="301752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293B"/>
                </a:solidFill>
                <a:latin typeface="Calibri"/>
              </a:defRPr>
            </a:pPr>
            <a:r>
              <a:t>BMW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789919" y="3017520"/>
            <a:ext cx="502920" cy="2743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0835640" y="30175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293B"/>
                </a:solidFill>
                <a:latin typeface="Calibri"/>
              </a:defRPr>
            </a:pPr>
            <a:r>
              <a:t>50%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400800" y="3291839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446520" y="3291839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293B"/>
                </a:solidFill>
                <a:latin typeface="Calibri"/>
              </a:defRPr>
            </a:pPr>
          </a:p>
        </p:txBody>
      </p:sp>
      <p:sp>
        <p:nvSpPr>
          <p:cNvPr id="92" name="Rectangle 91"/>
          <p:cNvSpPr/>
          <p:nvPr/>
        </p:nvSpPr>
        <p:spPr>
          <a:xfrm>
            <a:off x="7315200" y="3291839"/>
            <a:ext cx="7772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360920" y="3291839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293B"/>
                </a:solidFill>
                <a:latin typeface="Calibri"/>
              </a:defRPr>
            </a:pPr>
          </a:p>
        </p:txBody>
      </p:sp>
      <p:sp>
        <p:nvSpPr>
          <p:cNvPr id="94" name="Rectangle 93"/>
          <p:cNvSpPr/>
          <p:nvPr/>
        </p:nvSpPr>
        <p:spPr>
          <a:xfrm>
            <a:off x="8092440" y="3291839"/>
            <a:ext cx="6400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138160" y="3291839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293B"/>
                </a:solidFill>
                <a:latin typeface="Calibri"/>
              </a:defRPr>
            </a:pPr>
          </a:p>
        </p:txBody>
      </p:sp>
      <p:sp>
        <p:nvSpPr>
          <p:cNvPr id="96" name="Rectangle 95"/>
          <p:cNvSpPr/>
          <p:nvPr/>
        </p:nvSpPr>
        <p:spPr>
          <a:xfrm>
            <a:off x="8732519" y="3291839"/>
            <a:ext cx="7772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778240" y="3291839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293B"/>
                </a:solidFill>
                <a:latin typeface="Calibri"/>
              </a:defRPr>
            </a:pPr>
            <a:r>
              <a:t>AW Int</a:t>
            </a:r>
          </a:p>
        </p:txBody>
      </p:sp>
      <p:sp>
        <p:nvSpPr>
          <p:cNvPr id="98" name="Rectangle 97"/>
          <p:cNvSpPr/>
          <p:nvPr/>
        </p:nvSpPr>
        <p:spPr>
          <a:xfrm>
            <a:off x="9509759" y="3291839"/>
            <a:ext cx="6858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555480" y="3291839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293B"/>
                </a:solidFill>
                <a:latin typeface="Calibri"/>
              </a:defRPr>
            </a:pPr>
            <a:r>
              <a:t>Marketing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0195559" y="3291839"/>
            <a:ext cx="5943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0241280" y="3291839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293B"/>
                </a:solidFill>
                <a:latin typeface="Calibri"/>
              </a:defRPr>
            </a:pPr>
            <a:r>
              <a:t>VW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789919" y="3291839"/>
            <a:ext cx="5029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0835640" y="3291839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E293B"/>
                </a:solidFill>
                <a:latin typeface="Calibri"/>
              </a:defRPr>
            </a:pPr>
            <a:r>
              <a:t>50%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400800" y="3840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Potrivire AI cu Campaniile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6400800" y="4297680"/>
            <a:ext cx="5029200" cy="1645920"/>
          </a:xfrm>
          <a:prstGeom prst="round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583680" y="438912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761"/>
                </a:solidFill>
                <a:latin typeface="Calibri"/>
              </a:defRPr>
            </a:pPr>
            <a:r>
              <a:t>Motorul AI potriveste facturile cu campaniile de marketing:</a:t>
            </a:r>
            <a:br/>
            <a:br/>
            <a:r>
              <a:t>1. Analizeaza numele furnizorului, descrierea si sumele</a:t>
            </a:r>
            <a:br/>
            <a:r>
              <a:t>2. Coreleaza cu proiectele din modulul Marketing</a:t>
            </a:r>
            <a:br/>
            <a:r>
              <a:t>3. Grupeaza facturile similare (ex: toate Google Ads Q1)</a:t>
            </a:r>
            <a:br/>
            <a:r>
              <a:t>4. Sugereaza legatura la linia de buget pentru tracking</a:t>
            </a:r>
            <a:br/>
            <a:r>
              <a:t>5. Permite alocarea in masa pe departamente corecte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1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Georgia"/>
              </a:defRPr>
            </a:pPr>
            <a:r>
              <a:t>Reconciliere Extrase Bancare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Potrivirea Tranzactiilor &amp; Legarea la Facturi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256032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560320" cy="320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89888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bank_statements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19072"/>
            <a:ext cx="2377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id  SERIAL PK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2377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filename  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21408"/>
            <a:ext cx="2377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company_name / cui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22576"/>
            <a:ext cx="2377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account_number  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523744"/>
            <a:ext cx="2377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period_from / period_to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724912"/>
            <a:ext cx="2377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total_transactions  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926080"/>
            <a:ext cx="2377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new_transactions  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127248"/>
            <a:ext cx="2377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duplicate_transactions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328415"/>
            <a:ext cx="2377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uploaded_by  FK → users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389120"/>
            <a:ext cx="25603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389120"/>
            <a:ext cx="2560320" cy="320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407407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bank_stmt_transactions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736592"/>
            <a:ext cx="2377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statement_id  FK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937759"/>
            <a:ext cx="2377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vendor_name  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138928"/>
            <a:ext cx="2377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amount  NUM(15,2)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340096"/>
            <a:ext cx="2377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transaction_date  DATE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541264"/>
            <a:ext cx="2377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invoice_id  FK → invoices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742431"/>
            <a:ext cx="2377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status  (pending/matched)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943600"/>
            <a:ext cx="2377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match_confidence  NUM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Pipeline de Potrivire Automata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0" y="2011680"/>
            <a:ext cx="1371600" cy="548640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Incarcare</a:t>
            </a:r>
            <a:br/>
            <a:r>
              <a:t>Extras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2057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5A5"/>
                </a:solidFill>
                <a:latin typeface="Calibri"/>
              </a:defRPr>
            </a:pPr>
            <a:r>
              <a:t>Parseaza PDF/CSV</a:t>
            </a:r>
            <a:br/>
            <a:r>
              <a:t>extrage randurile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343400" y="2560320"/>
            <a:ext cx="0" cy="320040"/>
          </a:xfrm>
          <a:prstGeom prst="line">
            <a:avLst/>
          </a:prstGeom>
          <a:ln w="25400">
            <a:solidFill>
              <a:srgbClr val="8B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3657600" y="2880360"/>
            <a:ext cx="1371600" cy="5486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Rezolutie</a:t>
            </a:r>
            <a:br/>
            <a:r>
              <a:t>Vendor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80" y="2926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5A5"/>
                </a:solidFill>
                <a:latin typeface="Calibri"/>
              </a:defRPr>
            </a:pPr>
            <a:r>
              <a:t>vendor_mappings</a:t>
            </a:r>
            <a:br/>
            <a:r>
              <a:t>potrivire dupa pattern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343400" y="3429000"/>
            <a:ext cx="0" cy="320040"/>
          </a:xfrm>
          <a:prstGeom prst="line">
            <a:avLst/>
          </a:prstGeom>
          <a:ln w="25400">
            <a:solidFill>
              <a:srgbClr val="8B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3657600" y="3749039"/>
            <a:ext cx="1371600" cy="548640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Potrivire</a:t>
            </a:r>
            <a:br/>
            <a:r>
              <a:t>Factura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12080" y="379475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5A5"/>
                </a:solidFill>
                <a:latin typeface="Calibri"/>
              </a:defRPr>
            </a:pPr>
            <a:r>
              <a:t>Suma + data</a:t>
            </a:r>
            <a:br/>
            <a:r>
              <a:t>potrivire fuzzy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343400" y="4297679"/>
            <a:ext cx="0" cy="320041"/>
          </a:xfrm>
          <a:prstGeom prst="line">
            <a:avLst/>
          </a:prstGeom>
          <a:ln w="25400">
            <a:solidFill>
              <a:srgbClr val="8B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3657600" y="4617720"/>
            <a:ext cx="1371600" cy="5486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Scor de</a:t>
            </a:r>
            <a:br/>
            <a:r>
              <a:t>Incredere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12080" y="4663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5A5"/>
                </a:solidFill>
                <a:latin typeface="Calibri"/>
              </a:defRPr>
            </a:pPr>
            <a:r>
              <a:t>Scor 0.0 – 1.0</a:t>
            </a:r>
            <a:br/>
            <a:r>
              <a:t>per sugestie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343400" y="5166359"/>
            <a:ext cx="0" cy="320041"/>
          </a:xfrm>
          <a:prstGeom prst="line">
            <a:avLst/>
          </a:prstGeom>
          <a:ln w="25400">
            <a:solidFill>
              <a:srgbClr val="8B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3657600" y="5486400"/>
            <a:ext cx="1371600" cy="5486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Acceptare /</a:t>
            </a:r>
            <a:br/>
            <a:r>
              <a:t>Respingere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12080" y="5532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5A5"/>
                </a:solidFill>
                <a:latin typeface="Calibri"/>
              </a:defRPr>
            </a:pPr>
            <a:r>
              <a:t>Utilizatorul revizuieste</a:t>
            </a:r>
            <a:br/>
            <a:r>
              <a:t>sau auto-acceptare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4672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Capabilitati Cheie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46720" y="1828800"/>
            <a:ext cx="36576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46720" y="1828800"/>
            <a:ext cx="54864" cy="7315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00" y="1965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Unificare Tranzactii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0" y="2286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A5"/>
                </a:solidFill>
                <a:latin typeface="Calibri"/>
              </a:defRPr>
            </a:pPr>
            <a:r>
              <a:t>Combina plati fragmentate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0" y="25420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A5"/>
                </a:solidFill>
                <a:latin typeface="Calibri"/>
              </a:defRPr>
            </a:pPr>
            <a:r>
              <a:t>intr-o tranzactie logica unica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46720" y="2697480"/>
            <a:ext cx="36576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046720" y="2697480"/>
            <a:ext cx="54864" cy="7315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29600" y="2834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Auto-Mapare Vendori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0" y="3154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A5"/>
                </a:solidFill>
                <a:latin typeface="Calibri"/>
              </a:defRPr>
            </a:pPr>
            <a:r>
              <a:t>Rezolutie vendor → furnizor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34107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A5"/>
                </a:solidFill>
                <a:latin typeface="Calibri"/>
              </a:defRPr>
            </a:pPr>
            <a:r>
              <a:t>bazata pe pattern-uri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046720" y="3566160"/>
            <a:ext cx="36576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046720" y="3566160"/>
            <a:ext cx="54864" cy="7315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29600" y="3703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Sugestii AI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29600" y="4023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A5"/>
                </a:solidFill>
                <a:latin typeface="Calibri"/>
              </a:defRPr>
            </a:pPr>
            <a:r>
              <a:t>GET /transactions/&lt;id&gt;/suggestions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0" y="42793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A5"/>
                </a:solidFill>
                <a:latin typeface="Calibri"/>
              </a:defRPr>
            </a:pPr>
            <a:r>
              <a:t>returneaza potriviri clasificate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046720" y="4434840"/>
            <a:ext cx="36576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046720" y="4434840"/>
            <a:ext cx="54864" cy="7315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229600" y="4572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Operatiuni in Masa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29600" y="4892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A5"/>
                </a:solidFill>
                <a:latin typeface="Calibri"/>
              </a:defRPr>
            </a:pPr>
            <a:r>
              <a:t>bulk-ignore, bulk-status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29600" y="51480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A5"/>
                </a:solidFill>
                <a:latin typeface="Calibri"/>
              </a:defRPr>
            </a:pPr>
            <a:r>
              <a:t>pentru procesare eficienta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046720" y="5303520"/>
            <a:ext cx="36576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046720" y="5303520"/>
            <a:ext cx="54864" cy="7315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229600" y="54406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Export CSV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29600" y="5760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A5"/>
                </a:solidFill>
                <a:latin typeface="Calibri"/>
              </a:defRPr>
            </a:pPr>
            <a:r>
              <a:t>GET /api/export/csv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29600" y="60167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A5"/>
                </a:solidFill>
                <a:latin typeface="Calibri"/>
              </a:defRPr>
            </a:pPr>
            <a:r>
              <a:t>pentru reconciliere externa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1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Georgia"/>
              </a:defRPr>
            </a:pPr>
            <a:r>
              <a:t>Fluxuri de Aprobare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Motor de Aprobare Configurabil in Mai Multi Pasi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22860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28600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8988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approval_flows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19072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id  SERIAL PK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name / slug  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21408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entity_type  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22576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trigger_conditions  JSONB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523744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auto_approve_below  NUM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724912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auto_reject_after_hours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92608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allow_parallel_steps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657600"/>
            <a:ext cx="22860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657600"/>
            <a:ext cx="228600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675887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approval_steps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005072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flow_id  FK → flows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20624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name  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407408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step_order  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608576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approver_type  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809744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approver_user_id  FK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010912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approver_role_name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017520" y="1371600"/>
            <a:ext cx="22860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017520" y="1371600"/>
            <a:ext cx="2286000" cy="3200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08960" y="138988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approval_requests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08960" y="1719072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entity_type  TEXT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192024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entity_id  INT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0" y="2121408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flow_id  FK → flows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2322576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current_step_id  FK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2523744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status  (pending/approved/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08960" y="2724912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  rejected/escalated/...)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08960" y="292608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requested_by  FK → users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17520" y="3657600"/>
            <a:ext cx="22860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017520" y="3657600"/>
            <a:ext cx="2286000" cy="3200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08960" y="3675887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approval_decisions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08960" y="4005072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request_id  FK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08960" y="420624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step_id  FK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08960" y="4407408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decided_by  FK → users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08960" y="4608576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decision  (approved/rejected/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08960" y="4809744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  returned/delegated)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08960" y="5010912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comment  TEXT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Exemplu Flux de Aprobare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58000" y="2103120"/>
            <a:ext cx="1371600" cy="64008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Factura</a:t>
            </a:r>
            <a:br/>
            <a:r>
              <a:t>Trimisa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58000" y="2926080"/>
            <a:ext cx="1371600" cy="6400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Verificare</a:t>
            </a:r>
            <a:br/>
            <a:r>
              <a:t>Auto-Aprobare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43600" y="3931920"/>
            <a:ext cx="1371600" cy="640080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Revizuire</a:t>
            </a:r>
            <a:br/>
            <a:r>
              <a:t>Manager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772400" y="3931920"/>
            <a:ext cx="1371600" cy="6400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Aprobare</a:t>
            </a:r>
            <a:br/>
            <a:r>
              <a:t>Financiara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858000" y="4937760"/>
            <a:ext cx="1371600" cy="6400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Aprobat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144000" y="3931920"/>
            <a:ext cx="1371600" cy="640080"/>
          </a:xfrm>
          <a:prstGeom prst="round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Respins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7543800" y="2743200"/>
            <a:ext cx="0" cy="182880"/>
          </a:xfrm>
          <a:prstGeom prst="line">
            <a:avLst/>
          </a:prstGeom>
          <a:ln w="25400">
            <a:solidFill>
              <a:srgbClr val="8B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6629400" y="3566160"/>
            <a:ext cx="228600" cy="365760"/>
          </a:xfrm>
          <a:prstGeom prst="line">
            <a:avLst/>
          </a:prstGeom>
          <a:ln w="25400">
            <a:solidFill>
              <a:srgbClr val="8B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7772400" y="3566160"/>
            <a:ext cx="685800" cy="365760"/>
          </a:xfrm>
          <a:prstGeom prst="line">
            <a:avLst/>
          </a:prstGeom>
          <a:ln w="25400">
            <a:solidFill>
              <a:srgbClr val="8B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6629400" y="4572000"/>
            <a:ext cx="502920" cy="365760"/>
          </a:xfrm>
          <a:prstGeom prst="line">
            <a:avLst/>
          </a:prstGeom>
          <a:ln w="25400">
            <a:solidFill>
              <a:srgbClr val="8B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7772400" y="4572000"/>
            <a:ext cx="685800" cy="365760"/>
          </a:xfrm>
          <a:prstGeom prst="line">
            <a:avLst/>
          </a:prstGeom>
          <a:ln w="25400">
            <a:solidFill>
              <a:srgbClr val="8B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144000" y="3931920"/>
            <a:ext cx="457200" cy="0"/>
          </a:xfrm>
          <a:prstGeom prst="line">
            <a:avLst/>
          </a:prstGeom>
          <a:ln w="25400">
            <a:solidFill>
              <a:srgbClr val="F961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9418320" y="1371600"/>
            <a:ext cx="2286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5A5"/>
                </a:solidFill>
                <a:latin typeface="Calibri"/>
              </a:defRPr>
            </a:pPr>
            <a:r>
              <a:t>Functionalitati:</a:t>
            </a:r>
            <a:br/>
            <a:br/>
            <a:r>
              <a:t>• Aprobare multi-pas</a:t>
            </a:r>
            <a:br/>
            <a:r>
              <a:t>  secventiala sau paralela</a:t>
            </a:r>
            <a:br/>
            <a:br/>
            <a:r>
              <a:t>• Auto-aprobare sub</a:t>
            </a:r>
            <a:br/>
            <a:r>
              <a:t>  un prag valoric</a:t>
            </a:r>
            <a:br/>
            <a:br/>
            <a:r>
              <a:t>• Auto-respingere dupa</a:t>
            </a:r>
            <a:br/>
            <a:r>
              <a:t>  timeout (ore)</a:t>
            </a:r>
            <a:br/>
            <a:br/>
            <a:r>
              <a:t>• Sistem de delegare</a:t>
            </a:r>
            <a:br/>
            <a:r>
              <a:t>  (acoperire concediu)</a:t>
            </a:r>
            <a:br/>
            <a:br/>
            <a:r>
              <a:t>• Audit trail complet</a:t>
            </a:r>
            <a:br/>
            <a:r>
              <a:t>  per decizie</a:t>
            </a:r>
            <a:br/>
            <a:br/>
            <a:r>
              <a:t>• Cale de escaladare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1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Georgia"/>
              </a:defRPr>
            </a:pPr>
            <a:r>
              <a:t>Bugetare — Flux Complet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Procesul Integral Factura-la-Buget prin Toate Modulele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554480" cy="64008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Incarcare</a:t>
            </a:r>
            <a:br/>
            <a:r>
              <a:t>Manuala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68880" y="1371600"/>
            <a:ext cx="1554480" cy="640080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Sincronizare</a:t>
            </a:r>
            <a:br/>
            <a:r>
              <a:t>e-Factura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371600"/>
            <a:ext cx="1554480" cy="6400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Extras</a:t>
            </a:r>
            <a:br/>
            <a:r>
              <a:t>Bancar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234440" y="2011680"/>
            <a:ext cx="2286000" cy="548640"/>
          </a:xfrm>
          <a:prstGeom prst="line">
            <a:avLst/>
          </a:prstGeom>
          <a:ln w="19050">
            <a:solidFill>
              <a:srgbClr val="8B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46120" y="2011680"/>
            <a:ext cx="274320" cy="548640"/>
          </a:xfrm>
          <a:prstGeom prst="line">
            <a:avLst/>
          </a:prstGeom>
          <a:ln w="19050">
            <a:solidFill>
              <a:srgbClr val="8B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3520440" y="2011680"/>
            <a:ext cx="1737360" cy="548640"/>
          </a:xfrm>
          <a:prstGeom prst="line">
            <a:avLst/>
          </a:prstGeom>
          <a:ln w="19050">
            <a:solidFill>
              <a:srgbClr val="8B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468880" y="2560320"/>
            <a:ext cx="2103120" cy="731520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Depozit Facturi</a:t>
            </a:r>
            <a:br/>
            <a:r>
              <a:t>(tabel invoices)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520440" y="3291840"/>
            <a:ext cx="0" cy="365760"/>
          </a:xfrm>
          <a:prstGeom prst="line">
            <a:avLst/>
          </a:prstGeom>
          <a:ln w="25400">
            <a:solidFill>
              <a:srgbClr val="00A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103120" y="3657600"/>
            <a:ext cx="2834640" cy="7315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Motor Alocare</a:t>
            </a:r>
            <a:br/>
            <a:r>
              <a:t>(tabel allocations)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5029200"/>
            <a:ext cx="2011680" cy="64008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P&amp;L Companie</a:t>
            </a:r>
            <a:br/>
            <a:r>
              <a:t>pe Departament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1280160" y="4389120"/>
            <a:ext cx="2240280" cy="640080"/>
          </a:xfrm>
          <a:prstGeom prst="line">
            <a:avLst/>
          </a:prstGeom>
          <a:ln w="19050">
            <a:solidFill>
              <a:srgbClr val="8B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743200" y="5029200"/>
            <a:ext cx="2011680" cy="640080"/>
          </a:xfrm>
          <a:prstGeom prst="round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Legatura</a:t>
            </a:r>
            <a:br/>
            <a:r>
              <a:t>Buget Marketing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520440" y="4389120"/>
            <a:ext cx="228599" cy="640080"/>
          </a:xfrm>
          <a:prstGeom prst="line">
            <a:avLst/>
          </a:prstGeom>
          <a:ln w="19050">
            <a:solidFill>
              <a:srgbClr val="8B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212080" y="5029200"/>
            <a:ext cx="2011680" cy="640080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Refacturare</a:t>
            </a:r>
            <a:br/>
            <a:r>
              <a:t>Inter-companie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520440" y="4389120"/>
            <a:ext cx="2697480" cy="640080"/>
          </a:xfrm>
          <a:prstGeom prst="line">
            <a:avLst/>
          </a:prstGeom>
          <a:ln w="19050">
            <a:solidFill>
              <a:srgbClr val="8B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589520" y="13716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Detaliu Logica Procesului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9520" y="1828800"/>
            <a:ext cx="54864" cy="502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0" y="182880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1. Captare Factura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20574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Parseaza fisierul incarcat sau sincronizeaza</a:t>
            </a:r>
            <a:br/>
            <a:r>
              <a:t>de la ANAF. Extrage: furnizor, nr, data, suma, TVA.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89520" y="2487168"/>
            <a:ext cx="54864" cy="5029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0" y="2487168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2. Rezolutie Furnizor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271576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Potrivire prin efactura_supplier_mappings sau</a:t>
            </a:r>
            <a:br/>
            <a:r>
              <a:t>vendor_mappings. Atribuie tip &amp; departament.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89520" y="3145536"/>
            <a:ext cx="54864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0" y="3145536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3. Alocarea Costurilor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337413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Imparte factura pe companii/brand-uri/dept.</a:t>
            </a:r>
            <a:br/>
            <a:r>
              <a:t>Fiecare rand alocare = % din valoarea totala.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89520" y="3803904"/>
            <a:ext cx="54864" cy="5029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0" y="3803904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4. Refacturare (optional)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403250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Daca reinvoice_to este setat, creeaza intrari</a:t>
            </a:r>
            <a:br/>
            <a:r>
              <a:t>in reinvoice_destinations pt. transferuri inter-co.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89520" y="4462272"/>
            <a:ext cx="54864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0" y="446227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5. Aprobare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469087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Trimite alocarile la approval_flows.</a:t>
            </a:r>
            <a:br/>
            <a:r>
              <a:t>Auto-aprobare daca sub prag.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89520" y="5120640"/>
            <a:ext cx="54864" cy="5029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0" y="512064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6. Legatura Buget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53492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Leaga la liniile de buget marketing.</a:t>
            </a:r>
            <a:br/>
            <a:r>
              <a:t>Urmareste cheltuiala reala vs. planificata.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89520" y="5779008"/>
            <a:ext cx="54864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0" y="5779008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7. Export / Raport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600760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5A5"/>
                </a:solidFill>
                <a:latin typeface="Calibri"/>
              </a:defRPr>
            </a:pPr>
            <a:r>
              <a:t>Export in masa in Excel cu defalcare</a:t>
            </a:r>
            <a:br/>
            <a:r>
              <a:t>completa pe alocari per companie.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1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Georgia"/>
              </a:defRPr>
            </a:pPr>
            <a:r>
              <a:t>Integrare Buget Marketing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Legarea Facturilor la Proiecte, Linii de Buget &amp; KPI-uri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1828800" cy="640080"/>
          </a:xfrm>
          <a:prstGeom prst="round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Proiect</a:t>
            </a:r>
            <a:br/>
            <a:r>
              <a:t>Marketing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77440" y="1965960"/>
            <a:ext cx="457200" cy="0"/>
          </a:xfrm>
          <a:prstGeom prst="line">
            <a:avLst/>
          </a:prstGeom>
          <a:ln w="25400">
            <a:solidFill>
              <a:srgbClr val="8B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834640" y="1645920"/>
            <a:ext cx="1828800" cy="6400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Linii de</a:t>
            </a:r>
            <a:br/>
            <a:r>
              <a:t>Buget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663440" y="1965960"/>
            <a:ext cx="457200" cy="0"/>
          </a:xfrm>
          <a:prstGeom prst="line">
            <a:avLst/>
          </a:prstGeom>
          <a:ln w="25400">
            <a:solidFill>
              <a:srgbClr val="8B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120640" y="1645920"/>
            <a:ext cx="1828800" cy="64008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Facturi</a:t>
            </a:r>
            <a:br/>
            <a:r>
              <a:t>Legate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949440" y="1965960"/>
            <a:ext cx="457200" cy="0"/>
          </a:xfrm>
          <a:prstGeom prst="line">
            <a:avLst/>
          </a:prstGeom>
          <a:ln w="25400">
            <a:solidFill>
              <a:srgbClr val="8B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406640" y="1645920"/>
            <a:ext cx="1828800" cy="6400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Real vs.</a:t>
            </a:r>
            <a:br/>
            <a:r>
              <a:t>Planificat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743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Flux API Buget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004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761"/>
                </a:solidFill>
                <a:latin typeface="Consolas"/>
              </a:defRPr>
            </a:pPr>
            <a:r>
              <a:t>GET /api/projects/&lt;id&gt;/budget-lines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2004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Obtine toate liniile de buget ale unui proiect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52044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761"/>
                </a:solidFill>
                <a:latin typeface="Consolas"/>
              </a:defRPr>
            </a:pPr>
            <a:r>
              <a:t>POST /api/projects/&lt;id&gt;/budget-lines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5204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Creeaza o linie de buget noua (cheltuiala planificata)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8404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761"/>
                </a:solidFill>
                <a:latin typeface="Consolas"/>
              </a:defRPr>
            </a:pPr>
            <a:r>
              <a:t>POST /api/budget-lines/&lt;id&gt;/link-invoice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8404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Leaga o factura existenta de aceasta linie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16052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761"/>
                </a:solidFill>
                <a:latin typeface="Consolas"/>
              </a:defRPr>
            </a:pPr>
            <a:r>
              <a:t>GET /api/budget-lines/&lt;id&gt;/transactions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41605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Vizualizeaza toate tranzactiile pentru linie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48056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761"/>
                </a:solidFill>
                <a:latin typeface="Consolas"/>
              </a:defRPr>
            </a:pPr>
            <a:r>
              <a:t>GET /api/reports/budget-vs-actual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44805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Raport buget vs. cheltuiala reala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8006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761"/>
                </a:solidFill>
                <a:latin typeface="Consolas"/>
              </a:defRPr>
            </a:pPr>
            <a:r>
              <a:t>GET /api/reports/channel-performance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48006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Performanta pe canal de marketing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303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Monitorizare KPI &amp; OKR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6692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A5"/>
                </a:solidFill>
                <a:latin typeface="Calibri"/>
              </a:defRPr>
            </a:pPr>
            <a:r>
              <a:t>Fiecare proiect poate defini KPI-uri cu istoricul snapshot-urilor si OKR-uri cu rezultate cheie.</a:t>
            </a:r>
            <a:br/>
            <a:r>
              <a:t>Valorile KPI pot fi sincronizate automat din datele de cheltuiala reala via POST /sync-kpis.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0" y="5029200"/>
            <a:ext cx="45720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0" y="5120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Buget vs. Real (Exemplu)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5376672"/>
            <a:ext cx="10972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B95A5"/>
                </a:solidFill>
                <a:latin typeface="Calibri"/>
              </a:defRPr>
            </a:pPr>
            <a:r>
              <a:t>Google Ads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5486400"/>
            <a:ext cx="2194560" cy="96012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0" y="5582412"/>
            <a:ext cx="2048255" cy="9601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0" y="5696712"/>
            <a:ext cx="10972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B95A5"/>
                </a:solidFill>
                <a:latin typeface="Calibri"/>
              </a:defRPr>
            </a:pPr>
            <a:r>
              <a:t>Meta Ads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0" y="5806440"/>
            <a:ext cx="1554480" cy="96012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29600" y="5902452"/>
            <a:ext cx="1664207" cy="96012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0" y="6016752"/>
            <a:ext cx="10972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B95A5"/>
                </a:solidFill>
                <a:latin typeface="Calibri"/>
              </a:defRPr>
            </a:pPr>
            <a:r>
              <a:t>Evenimente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0" y="6126480"/>
            <a:ext cx="914400" cy="96012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29600" y="6222492"/>
            <a:ext cx="694943" cy="9601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32320" y="6336792"/>
            <a:ext cx="10972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B95A5"/>
                </a:solidFill>
                <a:latin typeface="Calibri"/>
              </a:defRPr>
            </a:pPr>
            <a:r>
              <a:t>Print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9600" y="6446520"/>
            <a:ext cx="365759" cy="96012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229600" y="6542532"/>
            <a:ext cx="384048" cy="96012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1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Georgia"/>
              </a:defRPr>
            </a:pPr>
            <a:r>
              <a:t>Model Permisiuni &amp; Securitate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Acces Bazat pe Roluri cu Control Granular al Domeniului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286000" cy="640080"/>
          </a:xfrm>
          <a:prstGeom prst="round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deny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5A5"/>
                </a:solidFill>
                <a:latin typeface="Calibri"/>
              </a:defRPr>
            </a:pPr>
            <a:r>
              <a:t>Fara acces la aceasta actiune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43200" y="1874519"/>
            <a:ext cx="914400" cy="0"/>
          </a:xfrm>
          <a:prstGeom prst="line">
            <a:avLst/>
          </a:prstGeom>
          <a:ln w="25400">
            <a:solidFill>
              <a:srgbClr val="8B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200400" y="1554480"/>
            <a:ext cx="2286000" cy="6400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286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5A5"/>
                </a:solidFill>
                <a:latin typeface="Calibri"/>
              </a:defRPr>
            </a:pPr>
            <a:r>
              <a:t>Doar inregistrarile proprii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0" y="1874519"/>
            <a:ext cx="914400" cy="0"/>
          </a:xfrm>
          <a:prstGeom prst="line">
            <a:avLst/>
          </a:prstGeom>
          <a:ln w="25400">
            <a:solidFill>
              <a:srgbClr val="8B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0" y="1554480"/>
            <a:ext cx="2286000" cy="6400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department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286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5A5"/>
                </a:solidFill>
                <a:latin typeface="Calibri"/>
              </a:defRPr>
            </a:pPr>
            <a:r>
              <a:t>Inregistrari din departament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600" y="1874519"/>
            <a:ext cx="914400" cy="0"/>
          </a:xfrm>
          <a:prstGeom prst="line">
            <a:avLst/>
          </a:prstGeom>
          <a:ln w="25400">
            <a:solidFill>
              <a:srgbClr val="8B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686800" y="1554480"/>
            <a:ext cx="2286000" cy="6400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2286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5A5"/>
                </a:solidFill>
                <a:latin typeface="Calibri"/>
              </a:defRPr>
            </a:pPr>
            <a:r>
              <a:t>Acces complet la toate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651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5A5"/>
                </a:solidFill>
                <a:latin typeface="Calibri"/>
              </a:defRPr>
            </a:pPr>
            <a:r>
              <a:t>Nivel crescut de acces 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200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Matricea Permisiunilor Contabilitate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657600"/>
            <a:ext cx="2286000" cy="292608"/>
          </a:xfrm>
          <a:prstGeom prst="round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65760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2761"/>
                </a:solidFill>
                <a:latin typeface="Calibri"/>
              </a:defRPr>
            </a:pPr>
            <a:r>
              <a:t>can_view_invoices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65760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Vizualizare lista si detalii facturi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023360"/>
            <a:ext cx="2286000" cy="292608"/>
          </a:xfrm>
          <a:prstGeom prst="round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02336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2761"/>
                </a:solidFill>
                <a:latin typeface="Calibri"/>
              </a:defRPr>
            </a:pPr>
            <a:r>
              <a:t>can_add_invoices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402336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Trimitere facturi noi + parsare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389120"/>
            <a:ext cx="2286000" cy="292608"/>
          </a:xfrm>
          <a:prstGeom prst="round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38912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2761"/>
                </a:solidFill>
                <a:latin typeface="Calibri"/>
              </a:defRPr>
            </a:pPr>
            <a:r>
              <a:t>can_edit_invoices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438912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Modificare campuri factura + alocari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754880"/>
            <a:ext cx="2286000" cy="292608"/>
          </a:xfrm>
          <a:prstGeom prst="round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75488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2761"/>
                </a:solidFill>
                <a:latin typeface="Calibri"/>
              </a:defRPr>
            </a:pPr>
            <a:r>
              <a:t>can_delete_invoices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475488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Stergere soft / restaurare / stergere permanenta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200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Izolare Multi-Companie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40880" y="3657600"/>
            <a:ext cx="274320" cy="320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06640" y="3657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Autoworld Next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40880" y="4114800"/>
            <a:ext cx="274320" cy="320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0" y="4114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Autoworld Plus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40880" y="4572000"/>
            <a:ext cx="274320" cy="320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06640" y="4572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AW Prestige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040880" y="5029200"/>
            <a:ext cx="274320" cy="320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06640" y="5029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AW International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55778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A5"/>
                </a:solidFill>
                <a:latin typeface="Calibri"/>
              </a:defRPr>
            </a:pPr>
            <a:r>
              <a:t>Fiecare companie are inregistrare TVA independenta,</a:t>
            </a:r>
            <a:br/>
            <a:r>
              <a:t>structura de departamente si ierarhie de brand-uri.</a:t>
            </a:r>
            <a:br/>
            <a:r>
              <a:t>Alocarile referentiaza compania dupa nume.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Georgia"/>
              </a:defRPr>
            </a:pPr>
            <a:r>
              <a:t>Sumar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91640"/>
            <a:ext cx="3200400" cy="36576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148839"/>
            <a:ext cx="54864" cy="36576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Receptie Multi-Sursa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95727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ADCFC"/>
                </a:solidFill>
                <a:latin typeface="Calibri"/>
              </a:defRPr>
            </a:pPr>
            <a:r>
              <a:t>Incarcare manuala, sincronizare e-Factura ANAF, parsare extrase bancare — toate alimenteaza un depozit unificat de facturi.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880359"/>
            <a:ext cx="54864" cy="36576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83463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Alocare Inteligenta a Costurilor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127247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ADCFC"/>
                </a:solidFill>
                <a:latin typeface="Calibri"/>
              </a:defRPr>
            </a:pPr>
            <a:r>
              <a:t>Imparte orice factura pe N companii, brand-uri si departamente cu alocare procentuala. Fluxurile de refacturare gestioneaza transferurile inter-companie.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611879"/>
            <a:ext cx="54864" cy="36576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566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Automatizare Bazata pe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8587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ADCFC"/>
                </a:solidFill>
                <a:latin typeface="Calibri"/>
              </a:defRPr>
            </a:pPr>
            <a:r>
              <a:t>Sugestie departament, potrivire campanii, grupare articole similare si auto-match pentru tranzactii bancare.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343400"/>
            <a:ext cx="54864" cy="36576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297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Guvernanta prin Aprobare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59028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ADCFC"/>
                </a:solidFill>
                <a:latin typeface="Calibri"/>
              </a:defRPr>
            </a:pPr>
            <a:r>
              <a:t>Fluxuri de aprobare configurabile multi-pas cu praguri de auto-aprobare, delegare si audit trail complet.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074920"/>
            <a:ext cx="54864" cy="36576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029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Monitorizare Buget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3218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ADCFC"/>
                </a:solidFill>
                <a:latin typeface="Calibri"/>
              </a:defRPr>
            </a:pPr>
            <a:r>
              <a:t>Legatura directa de la facturi la liniile de buget marketing cu raportare real vs. planificat si monitorizare KPI.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806440"/>
            <a:ext cx="54864" cy="36576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760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Securitate Enterprise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605332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ADCFC"/>
                </a:solidFill>
                <a:latin typeface="Calibri"/>
              </a:defRPr>
            </a:pPr>
            <a:r>
              <a:t>Permisiuni bazate pe roluri cu scop pe 4 niveluri (deny/own/department/all) si izolare date multi-companie.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5A5"/>
                </a:solidFill>
                <a:latin typeface="Calibri"/>
              </a:defRPr>
            </a:pPr>
            <a:r>
              <a:t>JARVIS Modul Contabilitate — Documentatie Proces Bugetare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